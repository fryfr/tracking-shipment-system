
<file path=[Content_Types].xml><?xml version="1.0" encoding="utf-8"?>
<Types xmlns="http://schemas.openxmlformats.org/package/2006/content-types">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22" Type="http://schemas.openxmlformats.org/officeDocument/2006/relationships/slide" Target="slides/slide17.xml"/><Relationship Id="rId10" Type="http://schemas.openxmlformats.org/officeDocument/2006/relationships/slide" Target="slides/slide5.xml"/><Relationship Id="rId21" Type="http://schemas.openxmlformats.org/officeDocument/2006/relationships/slide" Target="slides/slide16.xml"/><Relationship Id="rId13" Type="http://schemas.openxmlformats.org/officeDocument/2006/relationships/slide" Target="slides/slide8.xml"/><Relationship Id="rId12" Type="http://schemas.openxmlformats.org/officeDocument/2006/relationships/slide" Target="slides/slide7.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3b4f61cbf28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3b4f61cbf28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g3b4f61cbf28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 name="Google Shape;62;g3b4f61cbf28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 name="Shape 65"/>
        <p:cNvGrpSpPr/>
        <p:nvPr/>
      </p:nvGrpSpPr>
      <p:grpSpPr>
        <a:xfrm>
          <a:off x="0" y="0"/>
          <a:ext cx="0" cy="0"/>
          <a:chOff x="0" y="0"/>
          <a:chExt cx="0" cy="0"/>
        </a:xfrm>
      </p:grpSpPr>
      <p:sp>
        <p:nvSpPr>
          <p:cNvPr id="66" name="Google Shape;66;g3b4f61cbf28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 name="Google Shape;67;g3b4f61cbf28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 name="Shape 70"/>
        <p:cNvGrpSpPr/>
        <p:nvPr/>
      </p:nvGrpSpPr>
      <p:grpSpPr>
        <a:xfrm>
          <a:off x="0" y="0"/>
          <a:ext cx="0" cy="0"/>
          <a:chOff x="0" y="0"/>
          <a:chExt cx="0" cy="0"/>
        </a:xfrm>
      </p:grpSpPr>
      <p:sp>
        <p:nvSpPr>
          <p:cNvPr id="71" name="Google Shape;71;g3b4f61cbf28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 name="Google Shape;72;g3b4f61cbf28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3b4f61cbf28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3b4f61cbf28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b4f61cbf28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b4f61cbf28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b4f61cbf28_0_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b4f61cbf28_0_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 name="Shape 90"/>
        <p:cNvGrpSpPr/>
        <p:nvPr/>
      </p:nvGrpSpPr>
      <p:grpSpPr>
        <a:xfrm>
          <a:off x="0" y="0"/>
          <a:ext cx="0" cy="0"/>
          <a:chOff x="0" y="0"/>
          <a:chExt cx="0" cy="0"/>
        </a:xfrm>
      </p:grpSpPr>
      <p:sp>
        <p:nvSpPr>
          <p:cNvPr id="91" name="Google Shape;91;g3b4f61cbf28_0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 name="Google Shape;92;g3b4f61cbf28_0_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b4f61cbf28_0_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b4f61cbf28_0_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b4f61cbf28_0_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 name="Google Shape;102;g3b4f61cbf28_0_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b4f61cbf28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b4f61cbf28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g3b4f61cbf28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 name="Google Shape;112;g3b4f61cbf28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b4f61cbf28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b4f61cbf28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b4f61cbf28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b4f61cbf28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b4f61cbf28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b4f61cbf28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g3b4f61cbf28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g3b4f61cbf28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b4f61cbf28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b4f61cbf28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C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CA"/>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nvSpPr>
        <p:spPr>
          <a:xfrm>
            <a:off x="123725" y="1076425"/>
            <a:ext cx="8963400" cy="3389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800"/>
              </a:spcBef>
              <a:spcAft>
                <a:spcPts val="0"/>
              </a:spcAft>
              <a:buNone/>
            </a:pPr>
            <a:r>
              <a:rPr b="1" lang="en-CA" sz="1800">
                <a:solidFill>
                  <a:schemeClr val="dk1"/>
                </a:solidFill>
              </a:rPr>
              <a:t>Dynapro’s Black &amp; White Commission Framework</a:t>
            </a:r>
            <a:endParaRPr b="1" sz="1800">
              <a:solidFill>
                <a:schemeClr val="dk1"/>
              </a:solidFill>
            </a:endParaRPr>
          </a:p>
          <a:p>
            <a:pPr indent="0" lvl="0" marL="0" rtl="0" algn="l">
              <a:lnSpc>
                <a:spcPct val="115000"/>
              </a:lnSpc>
              <a:spcBef>
                <a:spcPts val="1200"/>
              </a:spcBef>
              <a:spcAft>
                <a:spcPts val="0"/>
              </a:spcAft>
              <a:buNone/>
            </a:pPr>
            <a:r>
              <a:rPr b="1" lang="en-CA" sz="1100">
                <a:solidFill>
                  <a:schemeClr val="dk1"/>
                </a:solidFill>
              </a:rPr>
              <a:t>Clarity • Accountability • Collaboration</a:t>
            </a:r>
            <a:endParaRPr b="1" sz="1100">
              <a:solidFill>
                <a:schemeClr val="dk1"/>
              </a:solidFill>
            </a:endParaRPr>
          </a:p>
          <a:p>
            <a:pPr indent="0" lvl="0" marL="0" rtl="0" algn="l">
              <a:lnSpc>
                <a:spcPct val="115000"/>
              </a:lnSpc>
              <a:spcBef>
                <a:spcPts val="1200"/>
              </a:spcBef>
              <a:spcAft>
                <a:spcPts val="0"/>
              </a:spcAft>
              <a:buNone/>
            </a:pPr>
            <a:r>
              <a:rPr b="1" lang="en-CA" sz="1100">
                <a:solidFill>
                  <a:schemeClr val="dk1"/>
                </a:solidFill>
              </a:rPr>
              <a:t>Why we are here today</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CA" sz="1100">
                <a:solidFill>
                  <a:schemeClr val="dk1"/>
                </a:solidFill>
              </a:rPr>
              <a:t>To remove confusion around commissions and bonuses</a:t>
            </a:r>
            <a:br>
              <a:rPr lang="en-CA" sz="1100">
                <a:solidFill>
                  <a:schemeClr val="dk1"/>
                </a:solidFill>
              </a:rPr>
            </a:b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CA" sz="1100">
                <a:solidFill>
                  <a:schemeClr val="dk1"/>
                </a:solidFill>
              </a:rPr>
              <a:t>To clearly define </a:t>
            </a:r>
            <a:r>
              <a:rPr b="1" lang="en-CA" sz="1100">
                <a:solidFill>
                  <a:schemeClr val="dk1"/>
                </a:solidFill>
              </a:rPr>
              <a:t>what gets paid</a:t>
            </a:r>
            <a:r>
              <a:rPr lang="en-CA" sz="1100">
                <a:solidFill>
                  <a:schemeClr val="dk1"/>
                </a:solidFill>
              </a:rPr>
              <a:t> and </a:t>
            </a:r>
            <a:r>
              <a:rPr b="1" lang="en-CA" sz="1100">
                <a:solidFill>
                  <a:schemeClr val="dk1"/>
                </a:solidFill>
              </a:rPr>
              <a:t>what does not</a:t>
            </a:r>
            <a:br>
              <a:rPr b="1" lang="en-CA" sz="1100">
                <a:solidFill>
                  <a:schemeClr val="dk1"/>
                </a:solidFill>
              </a:rPr>
            </a:br>
            <a:endParaRPr b="1"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CA" sz="1100">
                <a:solidFill>
                  <a:schemeClr val="dk1"/>
                </a:solidFill>
              </a:rPr>
              <a:t>To align leaders of Sales, Key Account Specialists, Application Engineers, and Finance</a:t>
            </a:r>
            <a:br>
              <a:rPr lang="en-CA" sz="1100">
                <a:solidFill>
                  <a:schemeClr val="dk1"/>
                </a:solidFill>
              </a:rPr>
            </a:br>
            <a:endParaRPr sz="1100">
              <a:solidFill>
                <a:schemeClr val="dk1"/>
              </a:solidFill>
            </a:endParaRPr>
          </a:p>
          <a:p>
            <a:pPr indent="0" lvl="0" marL="0" rtl="0" algn="l">
              <a:lnSpc>
                <a:spcPct val="115000"/>
              </a:lnSpc>
              <a:spcBef>
                <a:spcPts val="1200"/>
              </a:spcBef>
              <a:spcAft>
                <a:spcPts val="0"/>
              </a:spcAft>
              <a:buNone/>
            </a:pPr>
            <a:r>
              <a:rPr b="1" lang="en-CA" sz="1100">
                <a:solidFill>
                  <a:schemeClr val="dk1"/>
                </a:solidFill>
              </a:rPr>
              <a:t>Bottom line</a:t>
            </a:r>
            <a:endParaRPr b="1" sz="1100">
              <a:solidFill>
                <a:schemeClr val="dk1"/>
              </a:solidFill>
            </a:endParaRPr>
          </a:p>
          <a:p>
            <a:pPr indent="0" lvl="0" marL="381000" marR="381000" rtl="0" algn="l">
              <a:lnSpc>
                <a:spcPct val="115000"/>
              </a:lnSpc>
              <a:spcBef>
                <a:spcPts val="1200"/>
              </a:spcBef>
              <a:spcAft>
                <a:spcPts val="1200"/>
              </a:spcAft>
              <a:buNone/>
            </a:pPr>
            <a:r>
              <a:rPr lang="en-CA" sz="1100">
                <a:solidFill>
                  <a:schemeClr val="dk1"/>
                </a:solidFill>
              </a:rPr>
              <a:t>Commissions are paid for </a:t>
            </a:r>
            <a:r>
              <a:rPr b="1" lang="en-CA" sz="1100">
                <a:solidFill>
                  <a:schemeClr val="dk1"/>
                </a:solidFill>
              </a:rPr>
              <a:t>selling activities</a:t>
            </a:r>
            <a:r>
              <a:rPr lang="en-CA" sz="1100">
                <a:solidFill>
                  <a:schemeClr val="dk1"/>
                </a:solidFill>
              </a:rPr>
              <a:t>, not administrative work.</a:t>
            </a:r>
            <a:br>
              <a:rPr lang="en-CA" sz="1100">
                <a:solidFill>
                  <a:schemeClr val="dk1"/>
                </a:solidFill>
              </a:rPr>
            </a:br>
            <a:r>
              <a:rPr lang="en-CA" sz="1100">
                <a:solidFill>
                  <a:schemeClr val="dk1"/>
                </a:solidFill>
              </a:rPr>
              <a:t>Collaboration is rewarded — </a:t>
            </a:r>
            <a:r>
              <a:rPr b="1" lang="en-CA" sz="1100">
                <a:solidFill>
                  <a:schemeClr val="dk1"/>
                </a:solidFill>
              </a:rPr>
              <a:t>only when it is real and documented</a:t>
            </a:r>
            <a:r>
              <a:rPr lang="en-CA" sz="1100">
                <a:solidFill>
                  <a:schemeClr val="dk1"/>
                </a:solidFill>
              </a:rPr>
              <a:t>.</a:t>
            </a:r>
            <a:endParaRPr sz="1100">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2400"/>
              </a:spcBef>
              <a:spcAft>
                <a:spcPts val="0"/>
              </a:spcAft>
              <a:buClr>
                <a:schemeClr val="dk1"/>
              </a:buClr>
              <a:buSzPct val="47826"/>
              <a:buFont typeface="Arial"/>
              <a:buNone/>
            </a:pPr>
            <a:r>
              <a:rPr b="1" lang="en-CA" sz="2300">
                <a:solidFill>
                  <a:schemeClr val="dk1"/>
                </a:solidFill>
              </a:rPr>
              <a:t>WHY THIS COMMISSION PLAN EXISTS</a:t>
            </a:r>
            <a:endParaRPr b="1" sz="2300">
              <a:solidFill>
                <a:schemeClr val="dk1"/>
              </a:solidFill>
            </a:endParaRPr>
          </a:p>
          <a:p>
            <a:pPr indent="0" lvl="0" marL="0" rtl="0" algn="l">
              <a:spcBef>
                <a:spcPts val="1800"/>
              </a:spcBef>
              <a:spcAft>
                <a:spcPts val="0"/>
              </a:spcAft>
              <a:buClr>
                <a:schemeClr val="dk1"/>
              </a:buClr>
              <a:buSzPct val="64705"/>
              <a:buFont typeface="Arial"/>
              <a:buNone/>
            </a:pPr>
            <a:r>
              <a:rPr b="1" lang="en-CA" sz="1700">
                <a:solidFill>
                  <a:schemeClr val="dk1"/>
                </a:solidFill>
              </a:rPr>
              <a:t>Purpose of the Commission Plan</a:t>
            </a:r>
            <a:endParaRPr b="1" sz="1700">
              <a:solidFill>
                <a:schemeClr val="dk1"/>
              </a:solidFill>
            </a:endParaRPr>
          </a:p>
          <a:p>
            <a:pPr indent="0" lvl="0" marL="0" rtl="0" algn="l">
              <a:spcBef>
                <a:spcPts val="1200"/>
              </a:spcBef>
              <a:spcAft>
                <a:spcPts val="0"/>
              </a:spcAft>
              <a:buClr>
                <a:schemeClr val="dk1"/>
              </a:buClr>
              <a:buSzPct val="100000"/>
              <a:buFont typeface="Arial"/>
              <a:buNone/>
            </a:pPr>
            <a:r>
              <a:rPr lang="en-CA" sz="1100">
                <a:solidFill>
                  <a:schemeClr val="dk1"/>
                </a:solidFill>
              </a:rPr>
              <a:t>This commission structure was designed to:</a:t>
            </a:r>
            <a:endParaRPr sz="1100">
              <a:solidFill>
                <a:schemeClr val="dk1"/>
              </a:solidFill>
            </a:endParaRPr>
          </a:p>
          <a:p>
            <a:pPr indent="-287972" lvl="0" marL="457200" rtl="0" algn="l">
              <a:spcBef>
                <a:spcPts val="1200"/>
              </a:spcBef>
              <a:spcAft>
                <a:spcPts val="0"/>
              </a:spcAft>
              <a:buClr>
                <a:schemeClr val="dk1"/>
              </a:buClr>
              <a:buSzPct val="100000"/>
              <a:buChar char="●"/>
            </a:pPr>
            <a:r>
              <a:rPr lang="en-CA" sz="1100">
                <a:solidFill>
                  <a:schemeClr val="dk1"/>
                </a:solidFill>
              </a:rPr>
              <a:t>Incentivize </a:t>
            </a:r>
            <a:r>
              <a:rPr b="1" lang="en-CA" sz="1100">
                <a:solidFill>
                  <a:schemeClr val="dk1"/>
                </a:solidFill>
              </a:rPr>
              <a:t>selling behavior across all roles</a:t>
            </a:r>
            <a:br>
              <a:rPr b="1" lang="en-CA" sz="1100">
                <a:solidFill>
                  <a:schemeClr val="dk1"/>
                </a:solidFill>
              </a:rPr>
            </a:br>
            <a:endParaRPr b="1" sz="1100">
              <a:solidFill>
                <a:schemeClr val="dk1"/>
              </a:solidFill>
            </a:endParaRPr>
          </a:p>
          <a:p>
            <a:pPr indent="-287972" lvl="0" marL="457200" rtl="0" algn="l">
              <a:spcBef>
                <a:spcPts val="0"/>
              </a:spcBef>
              <a:spcAft>
                <a:spcPts val="0"/>
              </a:spcAft>
              <a:buClr>
                <a:schemeClr val="dk1"/>
              </a:buClr>
              <a:buSzPct val="100000"/>
              <a:buChar char="●"/>
            </a:pPr>
            <a:r>
              <a:rPr lang="en-CA" sz="1100">
                <a:solidFill>
                  <a:schemeClr val="dk1"/>
                </a:solidFill>
              </a:rPr>
              <a:t>Improve </a:t>
            </a:r>
            <a:r>
              <a:rPr b="1" lang="en-CA" sz="1100">
                <a:solidFill>
                  <a:schemeClr val="dk1"/>
                </a:solidFill>
              </a:rPr>
              <a:t>cross-department collaboration</a:t>
            </a:r>
            <a:br>
              <a:rPr b="1" lang="en-CA" sz="1100">
                <a:solidFill>
                  <a:schemeClr val="dk1"/>
                </a:solidFill>
              </a:rPr>
            </a:br>
            <a:endParaRPr b="1" sz="1100">
              <a:solidFill>
                <a:schemeClr val="dk1"/>
              </a:solidFill>
            </a:endParaRPr>
          </a:p>
          <a:p>
            <a:pPr indent="-287972" lvl="0" marL="457200" rtl="0" algn="l">
              <a:spcBef>
                <a:spcPts val="0"/>
              </a:spcBef>
              <a:spcAft>
                <a:spcPts val="0"/>
              </a:spcAft>
              <a:buClr>
                <a:schemeClr val="dk1"/>
              </a:buClr>
              <a:buSzPct val="100000"/>
              <a:buChar char="●"/>
            </a:pPr>
            <a:r>
              <a:rPr lang="en-CA" sz="1100">
                <a:solidFill>
                  <a:schemeClr val="dk1"/>
                </a:solidFill>
              </a:rPr>
              <a:t>Fix communication gaps between Sales, KAS, and Application Engineering</a:t>
            </a:r>
            <a:br>
              <a:rPr lang="en-CA" sz="1100">
                <a:solidFill>
                  <a:schemeClr val="dk1"/>
                </a:solidFill>
              </a:rPr>
            </a:br>
            <a:endParaRPr sz="1100">
              <a:solidFill>
                <a:schemeClr val="dk1"/>
              </a:solidFill>
            </a:endParaRPr>
          </a:p>
          <a:p>
            <a:pPr indent="-287972" lvl="0" marL="457200" rtl="0" algn="l">
              <a:spcBef>
                <a:spcPts val="0"/>
              </a:spcBef>
              <a:spcAft>
                <a:spcPts val="0"/>
              </a:spcAft>
              <a:buClr>
                <a:schemeClr val="dk1"/>
              </a:buClr>
              <a:buSzPct val="100000"/>
              <a:buChar char="●"/>
            </a:pPr>
            <a:r>
              <a:rPr lang="en-CA" sz="1100">
                <a:solidFill>
                  <a:schemeClr val="dk1"/>
                </a:solidFill>
              </a:rPr>
              <a:t>Create </a:t>
            </a:r>
            <a:r>
              <a:rPr b="1" lang="en-CA" sz="1100">
                <a:solidFill>
                  <a:schemeClr val="dk1"/>
                </a:solidFill>
              </a:rPr>
              <a:t>clear accountability</a:t>
            </a:r>
            <a:r>
              <a:rPr lang="en-CA" sz="1100">
                <a:solidFill>
                  <a:schemeClr val="dk1"/>
                </a:solidFill>
              </a:rPr>
              <a:t> through HubSpot documentation</a:t>
            </a:r>
            <a:br>
              <a:rPr lang="en-CA" sz="1100">
                <a:solidFill>
                  <a:schemeClr val="dk1"/>
                </a:solidFill>
              </a:rPr>
            </a:br>
            <a:endParaRPr sz="1100">
              <a:solidFill>
                <a:schemeClr val="dk1"/>
              </a:solidFill>
            </a:endParaRPr>
          </a:p>
          <a:p>
            <a:pPr indent="-287972" lvl="0" marL="457200" rtl="0" algn="l">
              <a:spcBef>
                <a:spcPts val="0"/>
              </a:spcBef>
              <a:spcAft>
                <a:spcPts val="0"/>
              </a:spcAft>
              <a:buClr>
                <a:schemeClr val="dk1"/>
              </a:buClr>
              <a:buSzPct val="100000"/>
              <a:buChar char="●"/>
            </a:pPr>
            <a:r>
              <a:rPr lang="en-CA" sz="1100">
                <a:solidFill>
                  <a:schemeClr val="dk1"/>
                </a:solidFill>
              </a:rPr>
              <a:t>Ensure fair, transparent, and timely payouts</a:t>
            </a:r>
            <a:br>
              <a:rPr lang="en-CA" sz="1100">
                <a:solidFill>
                  <a:schemeClr val="dk1"/>
                </a:solidFill>
              </a:rPr>
            </a:br>
            <a:endParaRPr sz="1100">
              <a:solidFill>
                <a:schemeClr val="dk1"/>
              </a:solidFill>
            </a:endParaRPr>
          </a:p>
          <a:p>
            <a:pPr indent="0" lvl="0" marL="0" rtl="0" algn="l">
              <a:spcBef>
                <a:spcPts val="1200"/>
              </a:spcBef>
              <a:spcAft>
                <a:spcPts val="0"/>
              </a:spcAft>
              <a:buClr>
                <a:schemeClr val="dk1"/>
              </a:buClr>
              <a:buSzPct val="100000"/>
              <a:buFont typeface="Arial"/>
              <a:buNone/>
            </a:pPr>
            <a:r>
              <a:rPr lang="en-CA" sz="1100">
                <a:solidFill>
                  <a:schemeClr val="dk1"/>
                </a:solidFill>
              </a:rPr>
              <a:t>This is a </a:t>
            </a:r>
            <a:r>
              <a:rPr b="1" lang="en-CA" sz="1100">
                <a:solidFill>
                  <a:schemeClr val="dk1"/>
                </a:solidFill>
              </a:rPr>
              <a:t>growth-focused system</a:t>
            </a:r>
            <a:r>
              <a:rPr lang="en-CA" sz="1100">
                <a:solidFill>
                  <a:schemeClr val="dk1"/>
                </a:solidFill>
              </a:rPr>
              <a:t>, not a compensation reduction.</a:t>
            </a:r>
            <a:endParaRPr sz="11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 name="Shape 63"/>
        <p:cNvGrpSpPr/>
        <p:nvPr/>
      </p:nvGrpSpPr>
      <p:grpSpPr>
        <a:xfrm>
          <a:off x="0" y="0"/>
          <a:ext cx="0" cy="0"/>
          <a:chOff x="0" y="0"/>
          <a:chExt cx="0" cy="0"/>
        </a:xfrm>
      </p:grpSpPr>
      <p:sp>
        <p:nvSpPr>
          <p:cNvPr id="64" name="Google Shape;64;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20000"/>
          </a:bodyPr>
          <a:lstStyle/>
          <a:p>
            <a:pPr indent="0" lvl="0" marL="0" rtl="0" algn="l">
              <a:spcBef>
                <a:spcPts val="2400"/>
              </a:spcBef>
              <a:spcAft>
                <a:spcPts val="0"/>
              </a:spcAft>
              <a:buNone/>
            </a:pPr>
            <a:r>
              <a:rPr b="1" lang="en-CA" sz="2442">
                <a:solidFill>
                  <a:schemeClr val="dk1"/>
                </a:solidFill>
              </a:rPr>
              <a:t>THE MOST IMPORTANT RULE</a:t>
            </a:r>
            <a:endParaRPr b="1" sz="2442">
              <a:solidFill>
                <a:schemeClr val="dk1"/>
              </a:solidFill>
            </a:endParaRPr>
          </a:p>
          <a:p>
            <a:pPr indent="0" lvl="0" marL="0" rtl="0" algn="l">
              <a:spcBef>
                <a:spcPts val="1800"/>
              </a:spcBef>
              <a:spcAft>
                <a:spcPts val="0"/>
              </a:spcAft>
              <a:buNone/>
            </a:pPr>
            <a:r>
              <a:rPr b="1" lang="en-CA" sz="1700">
                <a:solidFill>
                  <a:schemeClr val="dk1"/>
                </a:solidFill>
              </a:rPr>
              <a:t>The Non-Negotiable Rule</a:t>
            </a:r>
            <a:endParaRPr b="1" sz="1700">
              <a:solidFill>
                <a:schemeClr val="dk1"/>
              </a:solidFill>
            </a:endParaRPr>
          </a:p>
          <a:p>
            <a:pPr indent="0" lvl="0" marL="381000" marR="381000" rtl="0" algn="l">
              <a:spcBef>
                <a:spcPts val="1200"/>
              </a:spcBef>
              <a:spcAft>
                <a:spcPts val="0"/>
              </a:spcAft>
              <a:buNone/>
            </a:pPr>
            <a:r>
              <a:rPr b="1" lang="en-CA" sz="1250">
                <a:solidFill>
                  <a:schemeClr val="dk1"/>
                </a:solidFill>
              </a:rPr>
              <a:t>No documented client-facing sales activity = no commission</a:t>
            </a:r>
            <a:endParaRPr b="1" sz="1250">
              <a:solidFill>
                <a:schemeClr val="dk1"/>
              </a:solidFill>
            </a:endParaRPr>
          </a:p>
          <a:p>
            <a:pPr indent="-284162" lvl="0" marL="457200" rtl="0" algn="l">
              <a:spcBef>
                <a:spcPts val="1200"/>
              </a:spcBef>
              <a:spcAft>
                <a:spcPts val="0"/>
              </a:spcAft>
              <a:buClr>
                <a:schemeClr val="dk1"/>
              </a:buClr>
              <a:buSzPct val="100000"/>
              <a:buChar char="●"/>
            </a:pPr>
            <a:r>
              <a:rPr lang="en-CA" sz="1250">
                <a:solidFill>
                  <a:schemeClr val="dk1"/>
                </a:solidFill>
              </a:rPr>
              <a:t>All commissionable activity must be:</a:t>
            </a:r>
            <a:br>
              <a:rPr lang="en-CA" sz="1250">
                <a:solidFill>
                  <a:schemeClr val="dk1"/>
                </a:solidFill>
              </a:rPr>
            </a:br>
            <a:endParaRPr sz="1250">
              <a:solidFill>
                <a:schemeClr val="dk1"/>
              </a:solidFill>
            </a:endParaRPr>
          </a:p>
          <a:p>
            <a:pPr indent="-284162" lvl="1" marL="914400" rtl="0" algn="l">
              <a:spcBef>
                <a:spcPts val="0"/>
              </a:spcBef>
              <a:spcAft>
                <a:spcPts val="0"/>
              </a:spcAft>
              <a:buClr>
                <a:schemeClr val="dk1"/>
              </a:buClr>
              <a:buSzPct val="100000"/>
              <a:buChar char="○"/>
            </a:pPr>
            <a:r>
              <a:rPr lang="en-CA" sz="1250">
                <a:solidFill>
                  <a:schemeClr val="dk1"/>
                </a:solidFill>
              </a:rPr>
              <a:t>Client-facing (Calls, Emails, WhatsApp, Video Calls)</a:t>
            </a:r>
            <a:br>
              <a:rPr lang="en-CA" sz="1250">
                <a:solidFill>
                  <a:schemeClr val="dk1"/>
                </a:solidFill>
              </a:rPr>
            </a:br>
            <a:endParaRPr sz="1250">
              <a:solidFill>
                <a:schemeClr val="dk1"/>
              </a:solidFill>
            </a:endParaRPr>
          </a:p>
          <a:p>
            <a:pPr indent="-284162" lvl="1" marL="914400" rtl="0" algn="l">
              <a:spcBef>
                <a:spcPts val="0"/>
              </a:spcBef>
              <a:spcAft>
                <a:spcPts val="0"/>
              </a:spcAft>
              <a:buClr>
                <a:schemeClr val="dk1"/>
              </a:buClr>
              <a:buSzPct val="100000"/>
              <a:buChar char="○"/>
            </a:pPr>
            <a:r>
              <a:rPr lang="en-CA" sz="1250">
                <a:solidFill>
                  <a:schemeClr val="dk1"/>
                </a:solidFill>
              </a:rPr>
              <a:t>Logged in </a:t>
            </a:r>
            <a:r>
              <a:rPr b="1" lang="en-CA" sz="1250">
                <a:solidFill>
                  <a:schemeClr val="dk1"/>
                </a:solidFill>
              </a:rPr>
              <a:t>HubSpot</a:t>
            </a:r>
            <a:br>
              <a:rPr b="1" lang="en-CA" sz="1250">
                <a:solidFill>
                  <a:schemeClr val="dk1"/>
                </a:solidFill>
              </a:rPr>
            </a:br>
            <a:endParaRPr b="1" sz="1250">
              <a:solidFill>
                <a:schemeClr val="dk1"/>
              </a:solidFill>
            </a:endParaRPr>
          </a:p>
          <a:p>
            <a:pPr indent="-284162" lvl="1" marL="914400" rtl="0" algn="l">
              <a:spcBef>
                <a:spcPts val="0"/>
              </a:spcBef>
              <a:spcAft>
                <a:spcPts val="0"/>
              </a:spcAft>
              <a:buClr>
                <a:schemeClr val="dk1"/>
              </a:buClr>
              <a:buSzPct val="100000"/>
              <a:buChar char="○"/>
            </a:pPr>
            <a:r>
              <a:rPr lang="en-CA" sz="1250">
                <a:solidFill>
                  <a:schemeClr val="dk1"/>
                </a:solidFill>
              </a:rPr>
              <a:t>Tagged correctly to the contributor</a:t>
            </a:r>
            <a:br>
              <a:rPr lang="en-CA" sz="1250">
                <a:solidFill>
                  <a:schemeClr val="dk1"/>
                </a:solidFill>
              </a:rPr>
            </a:br>
            <a:endParaRPr sz="1250">
              <a:solidFill>
                <a:schemeClr val="dk1"/>
              </a:solidFill>
            </a:endParaRPr>
          </a:p>
          <a:p>
            <a:pPr indent="0" lvl="0" marL="0" rtl="0" algn="l">
              <a:spcBef>
                <a:spcPts val="1200"/>
              </a:spcBef>
              <a:spcAft>
                <a:spcPts val="0"/>
              </a:spcAft>
              <a:buNone/>
            </a:pPr>
            <a:r>
              <a:rPr lang="en-CA" sz="1250">
                <a:solidFill>
                  <a:schemeClr val="dk1"/>
                </a:solidFill>
              </a:rPr>
              <a:t>If it’s not in HubSpot, </a:t>
            </a:r>
            <a:r>
              <a:rPr b="1" lang="en-CA" sz="1250">
                <a:solidFill>
                  <a:schemeClr val="dk1"/>
                </a:solidFill>
              </a:rPr>
              <a:t>it didn’t happen</a:t>
            </a:r>
            <a:r>
              <a:rPr lang="en-CA" sz="1250">
                <a:solidFill>
                  <a:schemeClr val="dk1"/>
                </a:solidFill>
              </a:rPr>
              <a:t>.</a:t>
            </a:r>
            <a:endParaRPr sz="125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 name="Shape 68"/>
        <p:cNvGrpSpPr/>
        <p:nvPr/>
      </p:nvGrpSpPr>
      <p:grpSpPr>
        <a:xfrm>
          <a:off x="0" y="0"/>
          <a:ext cx="0" cy="0"/>
          <a:chOff x="0" y="0"/>
          <a:chExt cx="0" cy="0"/>
        </a:xfrm>
      </p:grpSpPr>
      <p:sp>
        <p:nvSpPr>
          <p:cNvPr id="69" name="Google Shape;69;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32500" lnSpcReduction="20000"/>
          </a:bodyPr>
          <a:lstStyle/>
          <a:p>
            <a:pPr indent="0" lvl="0" marL="0" rtl="0" algn="l">
              <a:spcBef>
                <a:spcPts val="2400"/>
              </a:spcBef>
              <a:spcAft>
                <a:spcPts val="0"/>
              </a:spcAft>
              <a:buNone/>
            </a:pPr>
            <a:r>
              <a:rPr b="1" lang="en-CA" sz="5362">
                <a:solidFill>
                  <a:schemeClr val="dk1"/>
                </a:solidFill>
              </a:rPr>
              <a:t>WHAT QUALIFIES AS SALES ACTIVITY</a:t>
            </a:r>
            <a:r>
              <a:rPr b="1" lang="en-CA" sz="2300">
                <a:solidFill>
                  <a:schemeClr val="dk1"/>
                </a:solidFill>
              </a:rPr>
              <a:t> </a:t>
            </a:r>
            <a:endParaRPr b="1" sz="2300">
              <a:solidFill>
                <a:schemeClr val="dk1"/>
              </a:solidFill>
            </a:endParaRPr>
          </a:p>
          <a:p>
            <a:pPr indent="0" lvl="0" marL="0" rtl="0" algn="l">
              <a:spcBef>
                <a:spcPts val="1800"/>
              </a:spcBef>
              <a:spcAft>
                <a:spcPts val="0"/>
              </a:spcAft>
              <a:buNone/>
            </a:pPr>
            <a:r>
              <a:rPr b="1" lang="en-CA" sz="2250">
                <a:solidFill>
                  <a:schemeClr val="dk1"/>
                </a:solidFill>
              </a:rPr>
              <a:t>Commissionable Sales Activities</a:t>
            </a:r>
            <a:endParaRPr b="1" sz="2250">
              <a:solidFill>
                <a:schemeClr val="dk1"/>
              </a:solidFill>
            </a:endParaRPr>
          </a:p>
          <a:p>
            <a:pPr indent="0" lvl="0" marL="0" rtl="0" algn="l">
              <a:spcBef>
                <a:spcPts val="1200"/>
              </a:spcBef>
              <a:spcAft>
                <a:spcPts val="0"/>
              </a:spcAft>
              <a:buNone/>
            </a:pPr>
            <a:r>
              <a:rPr lang="en-CA" sz="2250">
                <a:solidFill>
                  <a:schemeClr val="dk1"/>
                </a:solidFill>
              </a:rPr>
              <a:t>At least </a:t>
            </a:r>
            <a:r>
              <a:rPr b="1" lang="en-CA" sz="2250">
                <a:solidFill>
                  <a:schemeClr val="dk1"/>
                </a:solidFill>
              </a:rPr>
              <a:t>one meaningful client-facing interaction</a:t>
            </a:r>
            <a:r>
              <a:rPr lang="en-CA" sz="2250">
                <a:solidFill>
                  <a:schemeClr val="dk1"/>
                </a:solidFill>
              </a:rPr>
              <a:t>, such as:</a:t>
            </a:r>
            <a:endParaRPr sz="2250">
              <a:solidFill>
                <a:schemeClr val="dk1"/>
              </a:solidFill>
            </a:endParaRPr>
          </a:p>
          <a:p>
            <a:pPr indent="-275034" lvl="0" marL="457200" rtl="0" algn="l">
              <a:spcBef>
                <a:spcPts val="1200"/>
              </a:spcBef>
              <a:spcAft>
                <a:spcPts val="0"/>
              </a:spcAft>
              <a:buClr>
                <a:schemeClr val="dk1"/>
              </a:buClr>
              <a:buSzPct val="100000"/>
              <a:buChar char="●"/>
            </a:pPr>
            <a:r>
              <a:rPr lang="en-CA" sz="2250">
                <a:solidFill>
                  <a:schemeClr val="dk1"/>
                </a:solidFill>
              </a:rPr>
              <a:t>Client phone calls</a:t>
            </a:r>
            <a:br>
              <a:rPr lang="en-CA" sz="2250">
                <a:solidFill>
                  <a:schemeClr val="dk1"/>
                </a:solidFill>
              </a:rPr>
            </a:br>
            <a:endParaRPr sz="2250">
              <a:solidFill>
                <a:schemeClr val="dk1"/>
              </a:solidFill>
            </a:endParaRPr>
          </a:p>
          <a:p>
            <a:pPr indent="-275034" lvl="0" marL="457200" rtl="0" algn="l">
              <a:spcBef>
                <a:spcPts val="0"/>
              </a:spcBef>
              <a:spcAft>
                <a:spcPts val="0"/>
              </a:spcAft>
              <a:buClr>
                <a:schemeClr val="dk1"/>
              </a:buClr>
              <a:buSzPct val="100000"/>
              <a:buChar char="●"/>
            </a:pPr>
            <a:r>
              <a:rPr lang="en-CA" sz="2250">
                <a:solidFill>
                  <a:schemeClr val="dk1"/>
                </a:solidFill>
              </a:rPr>
              <a:t>WhatsApp or video calls</a:t>
            </a:r>
            <a:br>
              <a:rPr lang="en-CA" sz="2250">
                <a:solidFill>
                  <a:schemeClr val="dk1"/>
                </a:solidFill>
              </a:rPr>
            </a:br>
            <a:endParaRPr sz="2250">
              <a:solidFill>
                <a:schemeClr val="dk1"/>
              </a:solidFill>
            </a:endParaRPr>
          </a:p>
          <a:p>
            <a:pPr indent="-275034" lvl="0" marL="457200" rtl="0" algn="l">
              <a:spcBef>
                <a:spcPts val="0"/>
              </a:spcBef>
              <a:spcAft>
                <a:spcPts val="0"/>
              </a:spcAft>
              <a:buClr>
                <a:schemeClr val="dk1"/>
              </a:buClr>
              <a:buSzPct val="100000"/>
              <a:buChar char="●"/>
            </a:pPr>
            <a:r>
              <a:rPr lang="en-CA" sz="2250">
                <a:solidFill>
                  <a:schemeClr val="dk1"/>
                </a:solidFill>
              </a:rPr>
              <a:t>In-person meetings or site visits</a:t>
            </a:r>
            <a:br>
              <a:rPr lang="en-CA" sz="2250">
                <a:solidFill>
                  <a:schemeClr val="dk1"/>
                </a:solidFill>
              </a:rPr>
            </a:br>
            <a:endParaRPr sz="2250">
              <a:solidFill>
                <a:schemeClr val="dk1"/>
              </a:solidFill>
            </a:endParaRPr>
          </a:p>
          <a:p>
            <a:pPr indent="-275034" lvl="0" marL="457200" rtl="0" algn="l">
              <a:spcBef>
                <a:spcPts val="0"/>
              </a:spcBef>
              <a:spcAft>
                <a:spcPts val="0"/>
              </a:spcAft>
              <a:buClr>
                <a:schemeClr val="dk1"/>
              </a:buClr>
              <a:buSzPct val="100000"/>
              <a:buChar char="●"/>
            </a:pPr>
            <a:r>
              <a:rPr lang="en-CA" sz="2250">
                <a:solidFill>
                  <a:schemeClr val="dk1"/>
                </a:solidFill>
              </a:rPr>
              <a:t>Technical or commercial presentations</a:t>
            </a:r>
            <a:br>
              <a:rPr lang="en-CA" sz="2250">
                <a:solidFill>
                  <a:schemeClr val="dk1"/>
                </a:solidFill>
              </a:rPr>
            </a:br>
            <a:endParaRPr sz="2250">
              <a:solidFill>
                <a:schemeClr val="dk1"/>
              </a:solidFill>
            </a:endParaRPr>
          </a:p>
          <a:p>
            <a:pPr indent="-275034" lvl="0" marL="457200" rtl="0" algn="l">
              <a:spcBef>
                <a:spcPts val="0"/>
              </a:spcBef>
              <a:spcAft>
                <a:spcPts val="0"/>
              </a:spcAft>
              <a:buClr>
                <a:schemeClr val="dk1"/>
              </a:buClr>
              <a:buSzPct val="100000"/>
              <a:buChar char="●"/>
            </a:pPr>
            <a:r>
              <a:rPr lang="en-CA" sz="2250">
                <a:solidFill>
                  <a:schemeClr val="dk1"/>
                </a:solidFill>
              </a:rPr>
              <a:t>Follow-ups that advance the sale</a:t>
            </a:r>
            <a:br>
              <a:rPr lang="en-CA" sz="2250">
                <a:solidFill>
                  <a:schemeClr val="dk1"/>
                </a:solidFill>
              </a:rPr>
            </a:br>
            <a:endParaRPr sz="2250">
              <a:solidFill>
                <a:schemeClr val="dk1"/>
              </a:solidFill>
            </a:endParaRPr>
          </a:p>
          <a:p>
            <a:pPr indent="0" lvl="0" marL="0" rtl="0" algn="l">
              <a:spcBef>
                <a:spcPts val="1200"/>
              </a:spcBef>
              <a:spcAft>
                <a:spcPts val="0"/>
              </a:spcAft>
              <a:buNone/>
            </a:pPr>
            <a:r>
              <a:rPr lang="en-CA" sz="2250">
                <a:solidFill>
                  <a:schemeClr val="dk1"/>
                </a:solidFill>
              </a:rPr>
              <a:t>All activities </a:t>
            </a:r>
            <a:r>
              <a:rPr b="1" lang="en-CA" sz="2250">
                <a:solidFill>
                  <a:schemeClr val="dk1"/>
                </a:solidFill>
              </a:rPr>
              <a:t>must be logged in HubSpot</a:t>
            </a:r>
            <a:r>
              <a:rPr lang="en-CA" sz="2250">
                <a:solidFill>
                  <a:schemeClr val="dk1"/>
                </a:solidFill>
              </a:rPr>
              <a:t> with the opportunity link.</a:t>
            </a:r>
            <a:endParaRPr sz="225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 name="Shape 73"/>
        <p:cNvGrpSpPr/>
        <p:nvPr/>
      </p:nvGrpSpPr>
      <p:grpSpPr>
        <a:xfrm>
          <a:off x="0" y="0"/>
          <a:ext cx="0" cy="0"/>
          <a:chOff x="0" y="0"/>
          <a:chExt cx="0" cy="0"/>
        </a:xfrm>
      </p:grpSpPr>
      <p:sp>
        <p:nvSpPr>
          <p:cNvPr id="74" name="Google Shape;74;p17"/>
          <p:cNvSpPr txBox="1"/>
          <p:nvPr>
            <p:ph idx="1" type="body"/>
          </p:nvPr>
        </p:nvSpPr>
        <p:spPr>
          <a:xfrm>
            <a:off x="311700" y="606275"/>
            <a:ext cx="8520600" cy="3962700"/>
          </a:xfrm>
          <a:prstGeom prst="rect">
            <a:avLst/>
          </a:prstGeom>
        </p:spPr>
        <p:txBody>
          <a:bodyPr anchorCtr="0" anchor="t" bIns="91425" lIns="91425" spcFirstLastPara="1" rIns="91425" wrap="square" tIns="91425">
            <a:normAutofit fontScale="25000" lnSpcReduction="20000"/>
          </a:bodyPr>
          <a:lstStyle/>
          <a:p>
            <a:pPr indent="0" lvl="0" marL="0" rtl="0" algn="l">
              <a:spcBef>
                <a:spcPts val="2400"/>
              </a:spcBef>
              <a:spcAft>
                <a:spcPts val="0"/>
              </a:spcAft>
              <a:buNone/>
            </a:pPr>
            <a:r>
              <a:rPr b="1" lang="en-CA" sz="7150">
                <a:solidFill>
                  <a:schemeClr val="dk1"/>
                </a:solidFill>
              </a:rPr>
              <a:t>WHAT DOES NOT QUALIFY</a:t>
            </a:r>
            <a:r>
              <a:rPr b="1" lang="en-CA" sz="2300">
                <a:solidFill>
                  <a:schemeClr val="dk1"/>
                </a:solidFill>
              </a:rPr>
              <a:t> </a:t>
            </a:r>
            <a:endParaRPr b="1" sz="2300">
              <a:solidFill>
                <a:schemeClr val="dk1"/>
              </a:solidFill>
            </a:endParaRPr>
          </a:p>
          <a:p>
            <a:pPr indent="0" lvl="0" marL="0" rtl="0" algn="l">
              <a:spcBef>
                <a:spcPts val="1800"/>
              </a:spcBef>
              <a:spcAft>
                <a:spcPts val="0"/>
              </a:spcAft>
              <a:buNone/>
            </a:pPr>
            <a:r>
              <a:rPr b="1" lang="en-CA" sz="3600">
                <a:solidFill>
                  <a:schemeClr val="dk1"/>
                </a:solidFill>
              </a:rPr>
              <a:t>Non-Commissionable Activities</a:t>
            </a:r>
            <a:endParaRPr b="1" sz="3600">
              <a:solidFill>
                <a:schemeClr val="dk1"/>
              </a:solidFill>
            </a:endParaRPr>
          </a:p>
          <a:p>
            <a:pPr indent="0" lvl="0" marL="0" rtl="0" algn="l">
              <a:spcBef>
                <a:spcPts val="1200"/>
              </a:spcBef>
              <a:spcAft>
                <a:spcPts val="0"/>
              </a:spcAft>
              <a:buNone/>
            </a:pPr>
            <a:r>
              <a:rPr lang="en-CA" sz="3600">
                <a:solidFill>
                  <a:schemeClr val="dk1"/>
                </a:solidFill>
              </a:rPr>
              <a:t>These are </a:t>
            </a:r>
            <a:r>
              <a:rPr b="1" lang="en-CA" sz="3600">
                <a:solidFill>
                  <a:schemeClr val="dk1"/>
                </a:solidFill>
              </a:rPr>
              <a:t>salary-based responsibilities</a:t>
            </a:r>
            <a:r>
              <a:rPr lang="en-CA" sz="3600">
                <a:solidFill>
                  <a:schemeClr val="dk1"/>
                </a:solidFill>
              </a:rPr>
              <a:t>:</a:t>
            </a:r>
            <a:endParaRPr sz="3600">
              <a:solidFill>
                <a:schemeClr val="dk1"/>
              </a:solidFill>
            </a:endParaRPr>
          </a:p>
          <a:p>
            <a:pPr indent="-285750" lvl="0" marL="457200" rtl="0" algn="l">
              <a:spcBef>
                <a:spcPts val="1200"/>
              </a:spcBef>
              <a:spcAft>
                <a:spcPts val="0"/>
              </a:spcAft>
              <a:buClr>
                <a:schemeClr val="dk1"/>
              </a:buClr>
              <a:buSzPct val="100000"/>
              <a:buChar char="●"/>
            </a:pPr>
            <a:r>
              <a:rPr lang="en-CA" sz="3600">
                <a:solidFill>
                  <a:schemeClr val="dk1"/>
                </a:solidFill>
              </a:rPr>
              <a:t>Creating or revising quotes</a:t>
            </a:r>
            <a:br>
              <a:rPr lang="en-CA" sz="3600">
                <a:solidFill>
                  <a:schemeClr val="dk1"/>
                </a:solidFill>
              </a:rPr>
            </a:br>
            <a:endParaRPr sz="3600">
              <a:solidFill>
                <a:schemeClr val="dk1"/>
              </a:solidFill>
            </a:endParaRPr>
          </a:p>
          <a:p>
            <a:pPr indent="-285750" lvl="0" marL="457200" rtl="0" algn="l">
              <a:spcBef>
                <a:spcPts val="0"/>
              </a:spcBef>
              <a:spcAft>
                <a:spcPts val="0"/>
              </a:spcAft>
              <a:buClr>
                <a:schemeClr val="dk1"/>
              </a:buClr>
              <a:buSzPct val="100000"/>
              <a:buChar char="●"/>
            </a:pPr>
            <a:r>
              <a:rPr lang="en-CA" sz="3600">
                <a:solidFill>
                  <a:schemeClr val="dk1"/>
                </a:solidFill>
              </a:rPr>
              <a:t>Pricing calculations</a:t>
            </a:r>
            <a:br>
              <a:rPr lang="en-CA" sz="3600">
                <a:solidFill>
                  <a:schemeClr val="dk1"/>
                </a:solidFill>
              </a:rPr>
            </a:br>
            <a:endParaRPr sz="3600">
              <a:solidFill>
                <a:schemeClr val="dk1"/>
              </a:solidFill>
            </a:endParaRPr>
          </a:p>
          <a:p>
            <a:pPr indent="-285750" lvl="0" marL="457200" rtl="0" algn="l">
              <a:spcBef>
                <a:spcPts val="0"/>
              </a:spcBef>
              <a:spcAft>
                <a:spcPts val="0"/>
              </a:spcAft>
              <a:buClr>
                <a:schemeClr val="dk1"/>
              </a:buClr>
              <a:buSzPct val="100000"/>
              <a:buChar char="●"/>
            </a:pPr>
            <a:r>
              <a:rPr lang="en-CA" sz="3600">
                <a:solidFill>
                  <a:schemeClr val="dk1"/>
                </a:solidFill>
              </a:rPr>
              <a:t>Internal coordination or emails</a:t>
            </a:r>
            <a:br>
              <a:rPr lang="en-CA" sz="3600">
                <a:solidFill>
                  <a:schemeClr val="dk1"/>
                </a:solidFill>
              </a:rPr>
            </a:br>
            <a:endParaRPr sz="3600">
              <a:solidFill>
                <a:schemeClr val="dk1"/>
              </a:solidFill>
            </a:endParaRPr>
          </a:p>
          <a:p>
            <a:pPr indent="-285750" lvl="0" marL="457200" rtl="0" algn="l">
              <a:spcBef>
                <a:spcPts val="0"/>
              </a:spcBef>
              <a:spcAft>
                <a:spcPts val="0"/>
              </a:spcAft>
              <a:buClr>
                <a:schemeClr val="dk1"/>
              </a:buClr>
              <a:buSzPct val="100000"/>
              <a:buChar char="●"/>
            </a:pPr>
            <a:r>
              <a:rPr lang="en-CA" sz="3600">
                <a:solidFill>
                  <a:schemeClr val="dk1"/>
                </a:solidFill>
              </a:rPr>
              <a:t>Processing P.O.’s</a:t>
            </a:r>
            <a:br>
              <a:rPr lang="en-CA" sz="3600">
                <a:solidFill>
                  <a:schemeClr val="dk1"/>
                </a:solidFill>
              </a:rPr>
            </a:br>
            <a:endParaRPr sz="3600">
              <a:solidFill>
                <a:schemeClr val="dk1"/>
              </a:solidFill>
            </a:endParaRPr>
          </a:p>
          <a:p>
            <a:pPr indent="-285750" lvl="0" marL="457200" rtl="0" algn="l">
              <a:spcBef>
                <a:spcPts val="0"/>
              </a:spcBef>
              <a:spcAft>
                <a:spcPts val="0"/>
              </a:spcAft>
              <a:buClr>
                <a:schemeClr val="dk1"/>
              </a:buClr>
              <a:buSzPct val="100000"/>
              <a:buChar char="●"/>
            </a:pPr>
            <a:r>
              <a:rPr lang="en-CA" sz="3600">
                <a:solidFill>
                  <a:schemeClr val="dk1"/>
                </a:solidFill>
              </a:rPr>
              <a:t>Order management or logistics follow-up</a:t>
            </a:r>
            <a:br>
              <a:rPr lang="en-CA" sz="3600">
                <a:solidFill>
                  <a:schemeClr val="dk1"/>
                </a:solidFill>
              </a:rPr>
            </a:br>
            <a:endParaRPr sz="3600">
              <a:solidFill>
                <a:schemeClr val="dk1"/>
              </a:solidFill>
            </a:endParaRPr>
          </a:p>
          <a:p>
            <a:pPr indent="-285750" lvl="0" marL="457200" rtl="0" algn="l">
              <a:spcBef>
                <a:spcPts val="0"/>
              </a:spcBef>
              <a:spcAft>
                <a:spcPts val="0"/>
              </a:spcAft>
              <a:buClr>
                <a:schemeClr val="dk1"/>
              </a:buClr>
              <a:buSzPct val="100000"/>
              <a:buChar char="●"/>
            </a:pPr>
            <a:r>
              <a:rPr lang="en-CA" sz="3600">
                <a:solidFill>
                  <a:schemeClr val="dk1"/>
                </a:solidFill>
              </a:rPr>
              <a:t>Internal support with </a:t>
            </a:r>
            <a:r>
              <a:rPr b="1" lang="en-CA" sz="3600">
                <a:solidFill>
                  <a:schemeClr val="dk1"/>
                </a:solidFill>
              </a:rPr>
              <a:t>no client interaction</a:t>
            </a:r>
            <a:br>
              <a:rPr b="1" lang="en-CA" sz="3600">
                <a:solidFill>
                  <a:schemeClr val="dk1"/>
                </a:solidFill>
              </a:rPr>
            </a:br>
            <a:endParaRPr b="1" sz="3600">
              <a:solidFill>
                <a:schemeClr val="dk1"/>
              </a:solidFill>
            </a:endParaRPr>
          </a:p>
          <a:p>
            <a:pPr indent="0" lvl="0" marL="381000" marR="381000" rtl="0" algn="l">
              <a:spcBef>
                <a:spcPts val="1200"/>
              </a:spcBef>
              <a:spcAft>
                <a:spcPts val="0"/>
              </a:spcAft>
              <a:buNone/>
            </a:pPr>
            <a:r>
              <a:rPr lang="en-CA" sz="3600">
                <a:solidFill>
                  <a:schemeClr val="dk1"/>
                </a:solidFill>
              </a:rPr>
              <a:t>Supporting paperwork is not selling. </a:t>
            </a:r>
            <a:endParaRPr sz="3600">
              <a:solidFill>
                <a:schemeClr val="dk1"/>
              </a:solidFill>
            </a:endParaRPr>
          </a:p>
          <a:p>
            <a:pPr indent="0" lvl="0" marL="381000" marR="381000" rtl="0" algn="l">
              <a:spcBef>
                <a:spcPts val="1200"/>
              </a:spcBef>
              <a:spcAft>
                <a:spcPts val="0"/>
              </a:spcAft>
              <a:buNone/>
            </a:pPr>
            <a:r>
              <a:rPr lang="en-CA" sz="3600">
                <a:solidFill>
                  <a:schemeClr val="dk1"/>
                </a:solidFill>
              </a:rPr>
              <a:t>As this affects KAS and AE’s, Managers and team members may ask why they don’t earn commission on supporting paperwork? </a:t>
            </a:r>
            <a:endParaRPr sz="3600">
              <a:solidFill>
                <a:schemeClr val="dk1"/>
              </a:solidFill>
            </a:endParaRPr>
          </a:p>
          <a:p>
            <a:pPr indent="0" lvl="0" marL="381000" marR="381000" rtl="0" algn="l">
              <a:spcBef>
                <a:spcPts val="1200"/>
              </a:spcBef>
              <a:spcAft>
                <a:spcPts val="0"/>
              </a:spcAft>
              <a:buNone/>
            </a:pPr>
            <a:r>
              <a:rPr lang="en-CA" sz="3600">
                <a:solidFill>
                  <a:schemeClr val="dk1"/>
                </a:solidFill>
              </a:rPr>
              <a:t>The reason why is that your salary is reflective of their administrative, technical and supportive duties. Your salary reflects their support of the the sales team. Where as, Sales team members salaries are based on Commission and they need commissions to receive the compensation they strive for. </a:t>
            </a:r>
            <a:endParaRPr sz="3600">
              <a:solidFill>
                <a:schemeClr val="dk1"/>
              </a:solidFill>
            </a:endParaRPr>
          </a:p>
          <a:p>
            <a:pPr indent="0" lvl="0" marL="0" rtl="0" algn="l">
              <a:spcBef>
                <a:spcPts val="1200"/>
              </a:spcBef>
              <a:spcAft>
                <a:spcPts val="0"/>
              </a:spcAft>
              <a:buNone/>
            </a:pPr>
            <a:r>
              <a:t/>
            </a:r>
            <a:endParaRPr b="1" sz="3209">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2400"/>
              </a:spcBef>
              <a:spcAft>
                <a:spcPts val="0"/>
              </a:spcAft>
              <a:buNone/>
            </a:pPr>
            <a:r>
              <a:rPr b="1" lang="en-CA" sz="6950">
                <a:solidFill>
                  <a:schemeClr val="dk1"/>
                </a:solidFill>
              </a:rPr>
              <a:t>MULTIPLE PEOPLE ON ONE DEAL</a:t>
            </a:r>
            <a:endParaRPr b="1" sz="6950">
              <a:solidFill>
                <a:schemeClr val="dk1"/>
              </a:solidFill>
            </a:endParaRPr>
          </a:p>
          <a:p>
            <a:pPr indent="0" lvl="0" marL="0" rtl="0" algn="l">
              <a:spcBef>
                <a:spcPts val="1800"/>
              </a:spcBef>
              <a:spcAft>
                <a:spcPts val="0"/>
              </a:spcAft>
              <a:buNone/>
            </a:pPr>
            <a:r>
              <a:rPr b="1" lang="en-CA" sz="3600">
                <a:solidFill>
                  <a:schemeClr val="dk1"/>
                </a:solidFill>
              </a:rPr>
              <a:t>Can More Than One Person Get Commission?</a:t>
            </a:r>
            <a:endParaRPr b="1" sz="3600">
              <a:solidFill>
                <a:schemeClr val="dk1"/>
              </a:solidFill>
            </a:endParaRPr>
          </a:p>
          <a:p>
            <a:pPr indent="0" lvl="0" marL="0" rtl="0" algn="l">
              <a:spcBef>
                <a:spcPts val="1200"/>
              </a:spcBef>
              <a:spcAft>
                <a:spcPts val="0"/>
              </a:spcAft>
              <a:buNone/>
            </a:pPr>
            <a:r>
              <a:rPr b="1" lang="en-CA" sz="3600">
                <a:solidFill>
                  <a:schemeClr val="dk1"/>
                </a:solidFill>
              </a:rPr>
              <a:t>Yes — but only if each person independently qualifies.</a:t>
            </a:r>
            <a:endParaRPr b="1" sz="3600">
              <a:solidFill>
                <a:schemeClr val="dk1"/>
              </a:solidFill>
            </a:endParaRPr>
          </a:p>
          <a:p>
            <a:pPr indent="0" lvl="0" marL="0" rtl="0" algn="l">
              <a:spcBef>
                <a:spcPts val="1200"/>
              </a:spcBef>
              <a:spcAft>
                <a:spcPts val="0"/>
              </a:spcAft>
              <a:buNone/>
            </a:pPr>
            <a:r>
              <a:rPr lang="en-CA" sz="3600">
                <a:solidFill>
                  <a:schemeClr val="dk1"/>
                </a:solidFill>
              </a:rPr>
              <a:t>Each role must:</a:t>
            </a:r>
            <a:endParaRPr sz="3600">
              <a:solidFill>
                <a:schemeClr val="dk1"/>
              </a:solidFill>
            </a:endParaRPr>
          </a:p>
          <a:p>
            <a:pPr indent="-285750" lvl="0" marL="457200" rtl="0" algn="l">
              <a:spcBef>
                <a:spcPts val="1200"/>
              </a:spcBef>
              <a:spcAft>
                <a:spcPts val="0"/>
              </a:spcAft>
              <a:buClr>
                <a:schemeClr val="dk1"/>
              </a:buClr>
              <a:buSzPct val="100000"/>
              <a:buAutoNum type="arabicPeriod"/>
            </a:pPr>
            <a:r>
              <a:rPr lang="en-CA" sz="3600">
                <a:solidFill>
                  <a:schemeClr val="dk1"/>
                </a:solidFill>
              </a:rPr>
              <a:t>Perform real sales activity</a:t>
            </a:r>
            <a:br>
              <a:rPr lang="en-CA" sz="3600">
                <a:solidFill>
                  <a:schemeClr val="dk1"/>
                </a:solidFill>
              </a:rPr>
            </a:br>
            <a:endParaRPr sz="3600">
              <a:solidFill>
                <a:schemeClr val="dk1"/>
              </a:solidFill>
            </a:endParaRPr>
          </a:p>
          <a:p>
            <a:pPr indent="-285750" lvl="0" marL="457200" rtl="0" algn="l">
              <a:spcBef>
                <a:spcPts val="0"/>
              </a:spcBef>
              <a:spcAft>
                <a:spcPts val="0"/>
              </a:spcAft>
              <a:buClr>
                <a:schemeClr val="dk1"/>
              </a:buClr>
              <a:buSzPct val="100000"/>
              <a:buAutoNum type="arabicPeriod"/>
            </a:pPr>
            <a:r>
              <a:rPr lang="en-CA" sz="3600">
                <a:solidFill>
                  <a:schemeClr val="dk1"/>
                </a:solidFill>
              </a:rPr>
              <a:t>Document it in HubSpot</a:t>
            </a:r>
            <a:br>
              <a:rPr lang="en-CA" sz="3600">
                <a:solidFill>
                  <a:schemeClr val="dk1"/>
                </a:solidFill>
              </a:rPr>
            </a:br>
            <a:endParaRPr sz="3600">
              <a:solidFill>
                <a:schemeClr val="dk1"/>
              </a:solidFill>
            </a:endParaRPr>
          </a:p>
          <a:p>
            <a:pPr indent="-285750" lvl="0" marL="457200" rtl="0" algn="l">
              <a:spcBef>
                <a:spcPts val="0"/>
              </a:spcBef>
              <a:spcAft>
                <a:spcPts val="0"/>
              </a:spcAft>
              <a:buClr>
                <a:schemeClr val="dk1"/>
              </a:buClr>
              <a:buSzPct val="100000"/>
              <a:buAutoNum type="arabicPeriod"/>
            </a:pPr>
            <a:r>
              <a:rPr lang="en-CA" sz="3600">
                <a:solidFill>
                  <a:schemeClr val="dk1"/>
                </a:solidFill>
              </a:rPr>
              <a:t>Be tagged as a contributor</a:t>
            </a:r>
            <a:br>
              <a:rPr lang="en-CA" sz="3600">
                <a:solidFill>
                  <a:schemeClr val="dk1"/>
                </a:solidFill>
              </a:rPr>
            </a:br>
            <a:endParaRPr sz="3600">
              <a:solidFill>
                <a:schemeClr val="dk1"/>
              </a:solidFill>
            </a:endParaRPr>
          </a:p>
          <a:p>
            <a:pPr indent="0" lvl="0" marL="0" rtl="0" algn="l">
              <a:spcBef>
                <a:spcPts val="1200"/>
              </a:spcBef>
              <a:spcAft>
                <a:spcPts val="0"/>
              </a:spcAft>
              <a:buNone/>
            </a:pPr>
            <a:r>
              <a:rPr lang="en-CA" sz="3600">
                <a:solidFill>
                  <a:schemeClr val="dk1"/>
                </a:solidFill>
              </a:rPr>
              <a:t>Commission is </a:t>
            </a:r>
            <a:r>
              <a:rPr b="1" lang="en-CA" sz="3600">
                <a:solidFill>
                  <a:schemeClr val="dk1"/>
                </a:solidFill>
              </a:rPr>
              <a:t>earned</a:t>
            </a:r>
            <a:r>
              <a:rPr lang="en-CA" sz="3600">
                <a:solidFill>
                  <a:schemeClr val="dk1"/>
                </a:solidFill>
              </a:rPr>
              <a:t>, not automatic.</a:t>
            </a:r>
            <a:endParaRPr sz="3600">
              <a:solidFill>
                <a:schemeClr val="dk1"/>
              </a:solidFill>
            </a:endParaRPr>
          </a:p>
          <a:p>
            <a:pPr indent="0" lvl="0" marL="381000" marR="381000" rtl="0" algn="l">
              <a:spcBef>
                <a:spcPts val="1200"/>
              </a:spcBef>
              <a:spcAft>
                <a:spcPts val="0"/>
              </a:spcAft>
              <a:buNone/>
            </a:pPr>
            <a:r>
              <a:t/>
            </a:r>
            <a:endParaRPr b="1" sz="4350">
              <a:solidFill>
                <a:schemeClr val="dk1"/>
              </a:solidFill>
            </a:endParaRPr>
          </a:p>
          <a:p>
            <a:pPr indent="0" lvl="0" marL="0" rtl="0" algn="l">
              <a:spcBef>
                <a:spcPts val="1200"/>
              </a:spcBef>
              <a:spcAft>
                <a:spcPts val="0"/>
              </a:spcAft>
              <a:buNone/>
            </a:pPr>
            <a:r>
              <a:t/>
            </a:r>
            <a:endParaRPr b="1" sz="3209">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2400"/>
              </a:spcBef>
              <a:spcAft>
                <a:spcPts val="0"/>
              </a:spcAft>
              <a:buNone/>
            </a:pPr>
            <a:r>
              <a:rPr b="1" lang="en-CA" sz="7038">
                <a:solidFill>
                  <a:schemeClr val="dk1"/>
                </a:solidFill>
              </a:rPr>
              <a:t>APPLICATION ENGINEERS (AE) CLARITY</a:t>
            </a:r>
            <a:endParaRPr b="1" sz="7038">
              <a:solidFill>
                <a:schemeClr val="dk1"/>
              </a:solidFill>
            </a:endParaRPr>
          </a:p>
          <a:p>
            <a:pPr indent="0" lvl="0" marL="0" rtl="0" algn="l">
              <a:spcBef>
                <a:spcPts val="1800"/>
              </a:spcBef>
              <a:spcAft>
                <a:spcPts val="0"/>
              </a:spcAft>
              <a:buNone/>
            </a:pPr>
            <a:r>
              <a:rPr b="1" lang="en-CA" sz="3600">
                <a:solidFill>
                  <a:schemeClr val="dk1"/>
                </a:solidFill>
              </a:rPr>
              <a:t>Application Engineers – How You Get Paid</a:t>
            </a:r>
            <a:endParaRPr b="1" sz="3600">
              <a:solidFill>
                <a:schemeClr val="dk1"/>
              </a:solidFill>
            </a:endParaRPr>
          </a:p>
          <a:p>
            <a:pPr indent="0" lvl="0" marL="0" rtl="0" algn="l">
              <a:spcBef>
                <a:spcPts val="1200"/>
              </a:spcBef>
              <a:spcAft>
                <a:spcPts val="0"/>
              </a:spcAft>
              <a:buNone/>
            </a:pPr>
            <a:r>
              <a:rPr lang="en-CA" sz="3600">
                <a:solidFill>
                  <a:schemeClr val="dk1"/>
                </a:solidFill>
              </a:rPr>
              <a:t>You earn commission </a:t>
            </a:r>
            <a:r>
              <a:rPr b="1" lang="en-CA" sz="3600">
                <a:solidFill>
                  <a:schemeClr val="dk1"/>
                </a:solidFill>
              </a:rPr>
              <a:t>only when</a:t>
            </a:r>
            <a:r>
              <a:rPr lang="en-CA" sz="3600">
                <a:solidFill>
                  <a:schemeClr val="dk1"/>
                </a:solidFill>
              </a:rPr>
              <a:t>:</a:t>
            </a:r>
            <a:endParaRPr sz="3600">
              <a:solidFill>
                <a:schemeClr val="dk1"/>
              </a:solidFill>
            </a:endParaRPr>
          </a:p>
          <a:p>
            <a:pPr indent="-285750" lvl="0" marL="457200" rtl="0" algn="l">
              <a:spcBef>
                <a:spcPts val="1200"/>
              </a:spcBef>
              <a:spcAft>
                <a:spcPts val="0"/>
              </a:spcAft>
              <a:buClr>
                <a:schemeClr val="dk1"/>
              </a:buClr>
              <a:buSzPct val="100000"/>
              <a:buChar char="●"/>
            </a:pPr>
            <a:r>
              <a:rPr lang="en-CA" sz="3600">
                <a:solidFill>
                  <a:schemeClr val="dk1"/>
                </a:solidFill>
              </a:rPr>
              <a:t>You communicate directly with the client or EPC</a:t>
            </a:r>
            <a:br>
              <a:rPr lang="en-CA" sz="3600">
                <a:solidFill>
                  <a:schemeClr val="dk1"/>
                </a:solidFill>
              </a:rPr>
            </a:br>
            <a:endParaRPr sz="3600">
              <a:solidFill>
                <a:schemeClr val="dk1"/>
              </a:solidFill>
            </a:endParaRPr>
          </a:p>
          <a:p>
            <a:pPr indent="-285750" lvl="0" marL="457200" rtl="0" algn="l">
              <a:spcBef>
                <a:spcPts val="0"/>
              </a:spcBef>
              <a:spcAft>
                <a:spcPts val="0"/>
              </a:spcAft>
              <a:buClr>
                <a:schemeClr val="dk1"/>
              </a:buClr>
              <a:buSzPct val="100000"/>
              <a:buChar char="●"/>
            </a:pPr>
            <a:r>
              <a:rPr lang="en-CA" sz="3600">
                <a:solidFill>
                  <a:schemeClr val="dk1"/>
                </a:solidFill>
              </a:rPr>
              <a:t>You influence the technical decision</a:t>
            </a:r>
            <a:br>
              <a:rPr lang="en-CA" sz="3600">
                <a:solidFill>
                  <a:schemeClr val="dk1"/>
                </a:solidFill>
              </a:rPr>
            </a:br>
            <a:endParaRPr sz="3600">
              <a:solidFill>
                <a:schemeClr val="dk1"/>
              </a:solidFill>
            </a:endParaRPr>
          </a:p>
          <a:p>
            <a:pPr indent="-285750" lvl="0" marL="457200" rtl="0" algn="l">
              <a:spcBef>
                <a:spcPts val="0"/>
              </a:spcBef>
              <a:spcAft>
                <a:spcPts val="0"/>
              </a:spcAft>
              <a:buClr>
                <a:schemeClr val="dk1"/>
              </a:buClr>
              <a:buSzPct val="100000"/>
              <a:buChar char="●"/>
            </a:pPr>
            <a:r>
              <a:rPr lang="en-CA" sz="3600">
                <a:solidFill>
                  <a:schemeClr val="dk1"/>
                </a:solidFill>
              </a:rPr>
              <a:t>You log the interaction in HubSpot</a:t>
            </a:r>
            <a:br>
              <a:rPr lang="en-CA" sz="3600">
                <a:solidFill>
                  <a:schemeClr val="dk1"/>
                </a:solidFill>
              </a:rPr>
            </a:br>
            <a:endParaRPr sz="3600">
              <a:solidFill>
                <a:schemeClr val="dk1"/>
              </a:solidFill>
            </a:endParaRPr>
          </a:p>
          <a:p>
            <a:pPr indent="0" lvl="0" marL="0" rtl="0" algn="l">
              <a:spcBef>
                <a:spcPts val="1200"/>
              </a:spcBef>
              <a:spcAft>
                <a:spcPts val="0"/>
              </a:spcAft>
              <a:buNone/>
            </a:pPr>
            <a:r>
              <a:rPr lang="en-CA" sz="3600">
                <a:solidFill>
                  <a:schemeClr val="dk1"/>
                </a:solidFill>
              </a:rPr>
              <a:t>❌ Internal technical work alone does not qualify</a:t>
            </a:r>
            <a:br>
              <a:rPr lang="en-CA" sz="3600">
                <a:solidFill>
                  <a:schemeClr val="dk1"/>
                </a:solidFill>
              </a:rPr>
            </a:br>
            <a:r>
              <a:rPr lang="en-CA" sz="3600">
                <a:solidFill>
                  <a:schemeClr val="dk1"/>
                </a:solidFill>
              </a:rPr>
              <a:t> ✅ Technical selling to a client does</a:t>
            </a:r>
            <a:endParaRPr sz="3600">
              <a:solidFill>
                <a:schemeClr val="dk1"/>
              </a:solidFill>
            </a:endParaRPr>
          </a:p>
          <a:p>
            <a:pPr indent="0" lvl="0" marL="0" rtl="0" algn="l">
              <a:spcBef>
                <a:spcPts val="1200"/>
              </a:spcBef>
              <a:spcAft>
                <a:spcPts val="0"/>
              </a:spcAft>
              <a:buNone/>
            </a:pPr>
            <a:r>
              <a:t/>
            </a:r>
            <a:endParaRPr b="1" sz="5350">
              <a:solidFill>
                <a:schemeClr val="dk1"/>
              </a:solidFill>
            </a:endParaRPr>
          </a:p>
          <a:p>
            <a:pPr indent="0" lvl="0" marL="381000" marR="381000" rtl="0" algn="l">
              <a:spcBef>
                <a:spcPts val="1200"/>
              </a:spcBef>
              <a:spcAft>
                <a:spcPts val="0"/>
              </a:spcAft>
              <a:buNone/>
            </a:pPr>
            <a:r>
              <a:t/>
            </a:r>
            <a:endParaRPr b="1" sz="4350">
              <a:solidFill>
                <a:schemeClr val="dk1"/>
              </a:solidFill>
            </a:endParaRPr>
          </a:p>
          <a:p>
            <a:pPr indent="0" lvl="0" marL="0" rtl="0" algn="l">
              <a:spcBef>
                <a:spcPts val="1200"/>
              </a:spcBef>
              <a:spcAft>
                <a:spcPts val="0"/>
              </a:spcAft>
              <a:buNone/>
            </a:pPr>
            <a:r>
              <a:t/>
            </a:r>
            <a:endParaRPr b="1" sz="3209">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2400"/>
              </a:spcBef>
              <a:spcAft>
                <a:spcPts val="0"/>
              </a:spcAft>
              <a:buNone/>
            </a:pPr>
            <a:r>
              <a:rPr b="1" lang="en-CA" sz="7100">
                <a:solidFill>
                  <a:schemeClr val="dk1"/>
                </a:solidFill>
              </a:rPr>
              <a:t>KEY ACCOUNT SPECIALISTS (KAS) CLARITY</a:t>
            </a:r>
            <a:endParaRPr b="1" sz="7100">
              <a:solidFill>
                <a:schemeClr val="dk1"/>
              </a:solidFill>
            </a:endParaRPr>
          </a:p>
          <a:p>
            <a:pPr indent="0" lvl="0" marL="0" rtl="0" algn="l">
              <a:spcBef>
                <a:spcPts val="1800"/>
              </a:spcBef>
              <a:spcAft>
                <a:spcPts val="0"/>
              </a:spcAft>
              <a:buNone/>
            </a:pPr>
            <a:r>
              <a:rPr b="1" lang="en-CA" sz="3600">
                <a:solidFill>
                  <a:schemeClr val="dk1"/>
                </a:solidFill>
              </a:rPr>
              <a:t>Key Account Specialists – How You Get Paid</a:t>
            </a:r>
            <a:endParaRPr b="1" sz="3600">
              <a:solidFill>
                <a:schemeClr val="dk1"/>
              </a:solidFill>
            </a:endParaRPr>
          </a:p>
          <a:p>
            <a:pPr indent="0" lvl="0" marL="0" rtl="0" algn="l">
              <a:spcBef>
                <a:spcPts val="1200"/>
              </a:spcBef>
              <a:spcAft>
                <a:spcPts val="0"/>
              </a:spcAft>
              <a:buNone/>
            </a:pPr>
            <a:r>
              <a:rPr lang="en-CA" sz="3600">
                <a:solidFill>
                  <a:schemeClr val="dk1"/>
                </a:solidFill>
              </a:rPr>
              <a:t>You earn commission </a:t>
            </a:r>
            <a:r>
              <a:rPr b="1" lang="en-CA" sz="3600">
                <a:solidFill>
                  <a:schemeClr val="dk1"/>
                </a:solidFill>
              </a:rPr>
              <a:t>only when</a:t>
            </a:r>
            <a:r>
              <a:rPr lang="en-CA" sz="3600">
                <a:solidFill>
                  <a:schemeClr val="dk1"/>
                </a:solidFill>
              </a:rPr>
              <a:t>:</a:t>
            </a:r>
            <a:endParaRPr sz="3600">
              <a:solidFill>
                <a:schemeClr val="dk1"/>
              </a:solidFill>
            </a:endParaRPr>
          </a:p>
          <a:p>
            <a:pPr indent="-285750" lvl="0" marL="457200" rtl="0" algn="l">
              <a:spcBef>
                <a:spcPts val="1200"/>
              </a:spcBef>
              <a:spcAft>
                <a:spcPts val="0"/>
              </a:spcAft>
              <a:buClr>
                <a:schemeClr val="dk1"/>
              </a:buClr>
              <a:buSzPct val="100000"/>
              <a:buChar char="●"/>
            </a:pPr>
            <a:r>
              <a:rPr lang="en-CA" sz="3600">
                <a:solidFill>
                  <a:schemeClr val="dk1"/>
                </a:solidFill>
              </a:rPr>
              <a:t>You prospect, present, follow up, or negotiate with clients</a:t>
            </a:r>
            <a:br>
              <a:rPr lang="en-CA" sz="3600">
                <a:solidFill>
                  <a:schemeClr val="dk1"/>
                </a:solidFill>
              </a:rPr>
            </a:br>
            <a:endParaRPr sz="3600">
              <a:solidFill>
                <a:schemeClr val="dk1"/>
              </a:solidFill>
            </a:endParaRPr>
          </a:p>
          <a:p>
            <a:pPr indent="-285750" lvl="0" marL="457200" rtl="0" algn="l">
              <a:spcBef>
                <a:spcPts val="0"/>
              </a:spcBef>
              <a:spcAft>
                <a:spcPts val="0"/>
              </a:spcAft>
              <a:buClr>
                <a:schemeClr val="dk1"/>
              </a:buClr>
              <a:buSzPct val="100000"/>
              <a:buChar char="●"/>
            </a:pPr>
            <a:r>
              <a:rPr lang="en-CA" sz="3600">
                <a:solidFill>
                  <a:schemeClr val="dk1"/>
                </a:solidFill>
              </a:rPr>
              <a:t>You influence buying decisions</a:t>
            </a:r>
            <a:br>
              <a:rPr lang="en-CA" sz="3600">
                <a:solidFill>
                  <a:schemeClr val="dk1"/>
                </a:solidFill>
              </a:rPr>
            </a:br>
            <a:endParaRPr sz="3600">
              <a:solidFill>
                <a:schemeClr val="dk1"/>
              </a:solidFill>
            </a:endParaRPr>
          </a:p>
          <a:p>
            <a:pPr indent="-285750" lvl="0" marL="457200" rtl="0" algn="l">
              <a:spcBef>
                <a:spcPts val="0"/>
              </a:spcBef>
              <a:spcAft>
                <a:spcPts val="0"/>
              </a:spcAft>
              <a:buClr>
                <a:schemeClr val="dk1"/>
              </a:buClr>
              <a:buSzPct val="100000"/>
              <a:buChar char="●"/>
            </a:pPr>
            <a:r>
              <a:rPr lang="en-CA" sz="3600">
                <a:solidFill>
                  <a:schemeClr val="dk1"/>
                </a:solidFill>
              </a:rPr>
              <a:t>You log the activity in HubSpot</a:t>
            </a:r>
            <a:br>
              <a:rPr lang="en-CA" sz="3600">
                <a:solidFill>
                  <a:schemeClr val="dk1"/>
                </a:solidFill>
              </a:rPr>
            </a:br>
            <a:endParaRPr sz="3600">
              <a:solidFill>
                <a:schemeClr val="dk1"/>
              </a:solidFill>
            </a:endParaRPr>
          </a:p>
          <a:p>
            <a:pPr indent="0" lvl="0" marL="0" rtl="0" algn="l">
              <a:spcBef>
                <a:spcPts val="1200"/>
              </a:spcBef>
              <a:spcAft>
                <a:spcPts val="0"/>
              </a:spcAft>
              <a:buNone/>
            </a:pPr>
            <a:r>
              <a:rPr lang="en-CA" sz="3600">
                <a:solidFill>
                  <a:schemeClr val="dk1"/>
                </a:solidFill>
              </a:rPr>
              <a:t>❌ Pricing or quoting alone does not qualify</a:t>
            </a:r>
            <a:br>
              <a:rPr lang="en-CA" sz="3600">
                <a:solidFill>
                  <a:schemeClr val="dk1"/>
                </a:solidFill>
              </a:rPr>
            </a:br>
            <a:r>
              <a:rPr lang="en-CA" sz="3600">
                <a:solidFill>
                  <a:schemeClr val="dk1"/>
                </a:solidFill>
              </a:rPr>
              <a:t> ✅ Client-facing selling does</a:t>
            </a:r>
            <a:endParaRPr sz="36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5350">
              <a:solidFill>
                <a:schemeClr val="dk1"/>
              </a:solidFill>
            </a:endParaRPr>
          </a:p>
          <a:p>
            <a:pPr indent="0" lvl="0" marL="381000" marR="381000" rtl="0" algn="l">
              <a:spcBef>
                <a:spcPts val="1200"/>
              </a:spcBef>
              <a:spcAft>
                <a:spcPts val="0"/>
              </a:spcAft>
              <a:buNone/>
            </a:pPr>
            <a:r>
              <a:t/>
            </a:r>
            <a:endParaRPr b="1" sz="4350">
              <a:solidFill>
                <a:schemeClr val="dk1"/>
              </a:solidFill>
            </a:endParaRPr>
          </a:p>
          <a:p>
            <a:pPr indent="0" lvl="0" marL="0" rtl="0" algn="l">
              <a:spcBef>
                <a:spcPts val="1200"/>
              </a:spcBef>
              <a:spcAft>
                <a:spcPts val="0"/>
              </a:spcAft>
              <a:buNone/>
            </a:pPr>
            <a:r>
              <a:t/>
            </a:r>
            <a:endParaRPr b="1" sz="3209">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 name="Shape 93"/>
        <p:cNvGrpSpPr/>
        <p:nvPr/>
      </p:nvGrpSpPr>
      <p:grpSpPr>
        <a:xfrm>
          <a:off x="0" y="0"/>
          <a:ext cx="0" cy="0"/>
          <a:chOff x="0" y="0"/>
          <a:chExt cx="0" cy="0"/>
        </a:xfrm>
      </p:grpSpPr>
      <p:sp>
        <p:nvSpPr>
          <p:cNvPr id="94" name="Google Shape;94;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2400"/>
              </a:spcBef>
              <a:spcAft>
                <a:spcPts val="0"/>
              </a:spcAft>
              <a:buNone/>
            </a:pPr>
            <a:r>
              <a:rPr b="1" lang="en-CA" sz="7100">
                <a:solidFill>
                  <a:schemeClr val="dk1"/>
                </a:solidFill>
              </a:rPr>
              <a:t>SALES REPRESENTATIVE CLARITY</a:t>
            </a:r>
            <a:endParaRPr b="1" sz="7100">
              <a:solidFill>
                <a:schemeClr val="dk1"/>
              </a:solidFill>
            </a:endParaRPr>
          </a:p>
          <a:p>
            <a:pPr indent="0" lvl="0" marL="0" rtl="0" algn="l">
              <a:spcBef>
                <a:spcPts val="1800"/>
              </a:spcBef>
              <a:spcAft>
                <a:spcPts val="0"/>
              </a:spcAft>
              <a:buNone/>
            </a:pPr>
            <a:r>
              <a:rPr b="1" lang="en-CA" sz="3600">
                <a:solidFill>
                  <a:schemeClr val="dk1"/>
                </a:solidFill>
              </a:rPr>
              <a:t>Sales Representatives – How You Get Paid</a:t>
            </a:r>
            <a:endParaRPr b="1" sz="3600">
              <a:solidFill>
                <a:schemeClr val="dk1"/>
              </a:solidFill>
            </a:endParaRPr>
          </a:p>
          <a:p>
            <a:pPr indent="0" lvl="0" marL="0" rtl="0" algn="l">
              <a:spcBef>
                <a:spcPts val="1200"/>
              </a:spcBef>
              <a:spcAft>
                <a:spcPts val="0"/>
              </a:spcAft>
              <a:buNone/>
            </a:pPr>
            <a:r>
              <a:rPr lang="en-CA" sz="3600">
                <a:solidFill>
                  <a:schemeClr val="dk1"/>
                </a:solidFill>
              </a:rPr>
              <a:t>Commission is earned when:</a:t>
            </a:r>
            <a:endParaRPr sz="3600">
              <a:solidFill>
                <a:schemeClr val="dk1"/>
              </a:solidFill>
            </a:endParaRPr>
          </a:p>
          <a:p>
            <a:pPr indent="-285750" lvl="0" marL="457200" rtl="0" algn="l">
              <a:spcBef>
                <a:spcPts val="1200"/>
              </a:spcBef>
              <a:spcAft>
                <a:spcPts val="0"/>
              </a:spcAft>
              <a:buClr>
                <a:schemeClr val="dk1"/>
              </a:buClr>
              <a:buSzPct val="100000"/>
              <a:buChar char="●"/>
            </a:pPr>
            <a:r>
              <a:rPr lang="en-CA" sz="3600">
                <a:solidFill>
                  <a:schemeClr val="dk1"/>
                </a:solidFill>
              </a:rPr>
              <a:t>You generate or advance new opportunities</a:t>
            </a:r>
            <a:br>
              <a:rPr lang="en-CA" sz="3600">
                <a:solidFill>
                  <a:schemeClr val="dk1"/>
                </a:solidFill>
              </a:rPr>
            </a:br>
            <a:endParaRPr sz="3600">
              <a:solidFill>
                <a:schemeClr val="dk1"/>
              </a:solidFill>
            </a:endParaRPr>
          </a:p>
          <a:p>
            <a:pPr indent="-285750" lvl="0" marL="457200" rtl="0" algn="l">
              <a:spcBef>
                <a:spcPts val="0"/>
              </a:spcBef>
              <a:spcAft>
                <a:spcPts val="0"/>
              </a:spcAft>
              <a:buClr>
                <a:schemeClr val="dk1"/>
              </a:buClr>
              <a:buSzPct val="100000"/>
              <a:buChar char="●"/>
            </a:pPr>
            <a:r>
              <a:rPr lang="en-CA" sz="3600">
                <a:solidFill>
                  <a:schemeClr val="dk1"/>
                </a:solidFill>
              </a:rPr>
              <a:t>You conduct documented client interactions</a:t>
            </a:r>
            <a:br>
              <a:rPr lang="en-CA" sz="3600">
                <a:solidFill>
                  <a:schemeClr val="dk1"/>
                </a:solidFill>
              </a:rPr>
            </a:br>
            <a:endParaRPr sz="3600">
              <a:solidFill>
                <a:schemeClr val="dk1"/>
              </a:solidFill>
            </a:endParaRPr>
          </a:p>
          <a:p>
            <a:pPr indent="-285750" lvl="0" marL="457200" rtl="0" algn="l">
              <a:spcBef>
                <a:spcPts val="0"/>
              </a:spcBef>
              <a:spcAft>
                <a:spcPts val="0"/>
              </a:spcAft>
              <a:buClr>
                <a:schemeClr val="dk1"/>
              </a:buClr>
              <a:buSzPct val="100000"/>
              <a:buChar char="●"/>
            </a:pPr>
            <a:r>
              <a:rPr lang="en-CA" sz="3600">
                <a:solidFill>
                  <a:schemeClr val="dk1"/>
                </a:solidFill>
              </a:rPr>
              <a:t>You move deals to close through active selling</a:t>
            </a:r>
            <a:br>
              <a:rPr lang="en-CA" sz="3600">
                <a:solidFill>
                  <a:schemeClr val="dk1"/>
                </a:solidFill>
              </a:rPr>
            </a:br>
            <a:endParaRPr sz="3600">
              <a:solidFill>
                <a:schemeClr val="dk1"/>
              </a:solidFill>
            </a:endParaRPr>
          </a:p>
          <a:p>
            <a:pPr indent="0" lvl="0" marL="0" rtl="0" algn="l">
              <a:spcBef>
                <a:spcPts val="1200"/>
              </a:spcBef>
              <a:spcAft>
                <a:spcPts val="0"/>
              </a:spcAft>
              <a:buNone/>
            </a:pPr>
            <a:r>
              <a:rPr lang="en-CA" sz="3600">
                <a:solidFill>
                  <a:schemeClr val="dk1"/>
                </a:solidFill>
              </a:rPr>
              <a:t>All activity must be logged in HubSpot.</a:t>
            </a:r>
            <a:endParaRPr sz="36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5350">
              <a:solidFill>
                <a:schemeClr val="dk1"/>
              </a:solidFill>
            </a:endParaRPr>
          </a:p>
          <a:p>
            <a:pPr indent="0" lvl="0" marL="381000" marR="381000" rtl="0" algn="l">
              <a:spcBef>
                <a:spcPts val="1200"/>
              </a:spcBef>
              <a:spcAft>
                <a:spcPts val="0"/>
              </a:spcAft>
              <a:buNone/>
            </a:pPr>
            <a:r>
              <a:t/>
            </a:r>
            <a:endParaRPr b="1" sz="4350">
              <a:solidFill>
                <a:schemeClr val="dk1"/>
              </a:solidFill>
            </a:endParaRPr>
          </a:p>
          <a:p>
            <a:pPr indent="0" lvl="0" marL="0" rtl="0" algn="l">
              <a:spcBef>
                <a:spcPts val="1200"/>
              </a:spcBef>
              <a:spcAft>
                <a:spcPts val="0"/>
              </a:spcAft>
              <a:buNone/>
            </a:pPr>
            <a:r>
              <a:t/>
            </a:r>
            <a:endParaRPr b="1" sz="3209">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2400"/>
              </a:spcBef>
              <a:spcAft>
                <a:spcPts val="0"/>
              </a:spcAft>
              <a:buNone/>
            </a:pPr>
            <a:r>
              <a:rPr b="1" lang="en-CA" sz="7100">
                <a:solidFill>
                  <a:schemeClr val="dk1"/>
                </a:solidFill>
              </a:rPr>
              <a:t>MANAGER BONUS LOGIC (CORE RULE)</a:t>
            </a:r>
            <a:endParaRPr b="1" sz="7100">
              <a:solidFill>
                <a:schemeClr val="dk1"/>
              </a:solidFill>
            </a:endParaRPr>
          </a:p>
          <a:p>
            <a:pPr indent="0" lvl="0" marL="0" rtl="0" algn="l">
              <a:spcBef>
                <a:spcPts val="1800"/>
              </a:spcBef>
              <a:spcAft>
                <a:spcPts val="0"/>
              </a:spcAft>
              <a:buNone/>
            </a:pPr>
            <a:r>
              <a:rPr b="1" lang="en-CA" sz="3600">
                <a:solidFill>
                  <a:schemeClr val="dk1"/>
                </a:solidFill>
              </a:rPr>
              <a:t>Manager Bonus – How It Works</a:t>
            </a:r>
            <a:endParaRPr b="1" sz="3600">
              <a:solidFill>
                <a:schemeClr val="dk1"/>
              </a:solidFill>
            </a:endParaRPr>
          </a:p>
          <a:p>
            <a:pPr indent="-285750" lvl="0" marL="457200" rtl="0" algn="l">
              <a:spcBef>
                <a:spcPts val="1200"/>
              </a:spcBef>
              <a:spcAft>
                <a:spcPts val="0"/>
              </a:spcAft>
              <a:buClr>
                <a:schemeClr val="dk1"/>
              </a:buClr>
              <a:buSzPct val="100000"/>
              <a:buChar char="●"/>
            </a:pPr>
            <a:r>
              <a:rPr lang="en-CA" sz="3600">
                <a:solidFill>
                  <a:schemeClr val="dk1"/>
                </a:solidFill>
              </a:rPr>
              <a:t>Managers are bonused on </a:t>
            </a:r>
            <a:r>
              <a:rPr b="1" lang="en-CA" sz="3600">
                <a:solidFill>
                  <a:schemeClr val="dk1"/>
                </a:solidFill>
              </a:rPr>
              <a:t>new sales only</a:t>
            </a:r>
            <a:br>
              <a:rPr b="1" lang="en-CA" sz="3600">
                <a:solidFill>
                  <a:schemeClr val="dk1"/>
                </a:solidFill>
              </a:rPr>
            </a:br>
            <a:endParaRPr b="1" sz="3600">
              <a:solidFill>
                <a:schemeClr val="dk1"/>
              </a:solidFill>
            </a:endParaRPr>
          </a:p>
          <a:p>
            <a:pPr indent="-285750" lvl="0" marL="457200" rtl="0" algn="l">
              <a:spcBef>
                <a:spcPts val="0"/>
              </a:spcBef>
              <a:spcAft>
                <a:spcPts val="0"/>
              </a:spcAft>
              <a:buClr>
                <a:schemeClr val="dk1"/>
              </a:buClr>
              <a:buSzPct val="100000"/>
              <a:buChar char="●"/>
            </a:pPr>
            <a:r>
              <a:rPr lang="en-CA" sz="3600">
                <a:solidFill>
                  <a:schemeClr val="dk1"/>
                </a:solidFill>
              </a:rPr>
              <a:t>Bonuses are based on </a:t>
            </a:r>
            <a:r>
              <a:rPr b="1" lang="en-CA" sz="3600">
                <a:solidFill>
                  <a:schemeClr val="dk1"/>
                </a:solidFill>
              </a:rPr>
              <a:t>accounts owned by their team</a:t>
            </a:r>
            <a:br>
              <a:rPr b="1" lang="en-CA" sz="3600">
                <a:solidFill>
                  <a:schemeClr val="dk1"/>
                </a:solidFill>
              </a:rPr>
            </a:br>
            <a:endParaRPr b="1" sz="3600">
              <a:solidFill>
                <a:schemeClr val="dk1"/>
              </a:solidFill>
            </a:endParaRPr>
          </a:p>
          <a:p>
            <a:pPr indent="-285750" lvl="0" marL="457200" rtl="0" algn="l">
              <a:spcBef>
                <a:spcPts val="0"/>
              </a:spcBef>
              <a:spcAft>
                <a:spcPts val="0"/>
              </a:spcAft>
              <a:buClr>
                <a:schemeClr val="dk1"/>
              </a:buClr>
              <a:buSzPct val="100000"/>
              <a:buChar char="●"/>
            </a:pPr>
            <a:r>
              <a:rPr lang="en-CA" sz="3600">
                <a:solidFill>
                  <a:schemeClr val="dk1"/>
                </a:solidFill>
              </a:rPr>
              <a:t>Administrative work does not count</a:t>
            </a:r>
            <a:br>
              <a:rPr lang="en-CA" sz="3600">
                <a:solidFill>
                  <a:schemeClr val="dk1"/>
                </a:solidFill>
              </a:rPr>
            </a:br>
            <a:endParaRPr sz="3600">
              <a:solidFill>
                <a:schemeClr val="dk1"/>
              </a:solidFill>
            </a:endParaRPr>
          </a:p>
          <a:p>
            <a:pPr indent="0" lvl="0" marL="381000" marR="381000" rtl="0" algn="l">
              <a:spcBef>
                <a:spcPts val="1200"/>
              </a:spcBef>
              <a:spcAft>
                <a:spcPts val="0"/>
              </a:spcAft>
              <a:buNone/>
            </a:pPr>
            <a:r>
              <a:rPr lang="en-CA" sz="3600">
                <a:solidFill>
                  <a:schemeClr val="dk1"/>
                </a:solidFill>
              </a:rPr>
              <a:t>The manager whose team member </a:t>
            </a:r>
            <a:r>
              <a:rPr b="1" lang="en-CA" sz="3600">
                <a:solidFill>
                  <a:schemeClr val="dk1"/>
                </a:solidFill>
              </a:rPr>
              <a:t>owns the opportunity in HubSpot</a:t>
            </a:r>
            <a:r>
              <a:rPr lang="en-CA" sz="3600">
                <a:solidFill>
                  <a:schemeClr val="dk1"/>
                </a:solidFill>
              </a:rPr>
              <a:t> receives the bonus.</a:t>
            </a:r>
            <a:endParaRPr sz="36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5350">
              <a:solidFill>
                <a:schemeClr val="dk1"/>
              </a:solidFill>
            </a:endParaRPr>
          </a:p>
          <a:p>
            <a:pPr indent="0" lvl="0" marL="381000" marR="381000" rtl="0" algn="l">
              <a:spcBef>
                <a:spcPts val="1200"/>
              </a:spcBef>
              <a:spcAft>
                <a:spcPts val="0"/>
              </a:spcAft>
              <a:buNone/>
            </a:pPr>
            <a:r>
              <a:t/>
            </a:r>
            <a:endParaRPr b="1" sz="4350">
              <a:solidFill>
                <a:schemeClr val="dk1"/>
              </a:solidFill>
            </a:endParaRPr>
          </a:p>
          <a:p>
            <a:pPr indent="0" lvl="0" marL="0" rtl="0" algn="l">
              <a:spcBef>
                <a:spcPts val="1200"/>
              </a:spcBef>
              <a:spcAft>
                <a:spcPts val="0"/>
              </a:spcAft>
              <a:buNone/>
            </a:pPr>
            <a:r>
              <a:t/>
            </a:r>
            <a:endParaRPr b="1" sz="3209">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23"/>
          <p:cNvSpPr txBox="1"/>
          <p:nvPr>
            <p:ph idx="1" type="body"/>
          </p:nvPr>
        </p:nvSpPr>
        <p:spPr>
          <a:xfrm>
            <a:off x="311700" y="373575"/>
            <a:ext cx="8520600" cy="4195500"/>
          </a:xfrm>
          <a:prstGeom prst="rect">
            <a:avLst/>
          </a:prstGeom>
        </p:spPr>
        <p:txBody>
          <a:bodyPr anchorCtr="0" anchor="t" bIns="91425" lIns="91425" spcFirstLastPara="1" rIns="91425" wrap="square" tIns="91425">
            <a:normAutofit fontScale="25000" lnSpcReduction="20000"/>
          </a:bodyPr>
          <a:lstStyle/>
          <a:p>
            <a:pPr indent="0" lvl="0" marL="0" rtl="0" algn="l">
              <a:spcBef>
                <a:spcPts val="2400"/>
              </a:spcBef>
              <a:spcAft>
                <a:spcPts val="0"/>
              </a:spcAft>
              <a:buNone/>
            </a:pPr>
            <a:r>
              <a:rPr b="1" lang="en-CA" sz="7100">
                <a:solidFill>
                  <a:schemeClr val="dk1"/>
                </a:solidFill>
              </a:rPr>
              <a:t>REAL EXAMPLES (NO GREY AREAS)</a:t>
            </a:r>
            <a:endParaRPr b="1" sz="7100">
              <a:solidFill>
                <a:schemeClr val="dk1"/>
              </a:solidFill>
            </a:endParaRPr>
          </a:p>
          <a:p>
            <a:pPr indent="0" lvl="0" marL="0" rtl="0" algn="l">
              <a:spcBef>
                <a:spcPts val="1800"/>
              </a:spcBef>
              <a:spcAft>
                <a:spcPts val="0"/>
              </a:spcAft>
              <a:buNone/>
            </a:pPr>
            <a:r>
              <a:rPr b="1" lang="en-CA" sz="3600">
                <a:solidFill>
                  <a:schemeClr val="dk1"/>
                </a:solidFill>
              </a:rPr>
              <a:t>Manager Bonus Examples</a:t>
            </a:r>
            <a:endParaRPr b="1" sz="3600">
              <a:solidFill>
                <a:schemeClr val="dk1"/>
              </a:solidFill>
            </a:endParaRPr>
          </a:p>
          <a:p>
            <a:pPr indent="0" lvl="0" marL="0" rtl="0" algn="l">
              <a:spcBef>
                <a:spcPts val="1200"/>
              </a:spcBef>
              <a:spcAft>
                <a:spcPts val="0"/>
              </a:spcAft>
              <a:buNone/>
            </a:pPr>
            <a:r>
              <a:rPr b="1" lang="en-CA" sz="3600">
                <a:solidFill>
                  <a:schemeClr val="dk1"/>
                </a:solidFill>
              </a:rPr>
              <a:t>Barrick Gold</a:t>
            </a:r>
            <a:endParaRPr b="1" sz="3600">
              <a:solidFill>
                <a:schemeClr val="dk1"/>
              </a:solidFill>
            </a:endParaRPr>
          </a:p>
          <a:p>
            <a:pPr indent="-285750" lvl="0" marL="457200" rtl="0" algn="l">
              <a:spcBef>
                <a:spcPts val="1200"/>
              </a:spcBef>
              <a:spcAft>
                <a:spcPts val="0"/>
              </a:spcAft>
              <a:buClr>
                <a:schemeClr val="dk1"/>
              </a:buClr>
              <a:buSzPct val="100000"/>
              <a:buChar char="●"/>
            </a:pPr>
            <a:r>
              <a:rPr lang="en-CA" sz="3600">
                <a:solidFill>
                  <a:schemeClr val="dk1"/>
                </a:solidFill>
              </a:rPr>
              <a:t>AE + KAS involved</a:t>
            </a:r>
            <a:br>
              <a:rPr lang="en-CA" sz="3600">
                <a:solidFill>
                  <a:schemeClr val="dk1"/>
                </a:solidFill>
              </a:rPr>
            </a:br>
            <a:endParaRPr sz="3600">
              <a:solidFill>
                <a:schemeClr val="dk1"/>
              </a:solidFill>
            </a:endParaRPr>
          </a:p>
          <a:p>
            <a:pPr indent="-285750" lvl="0" marL="457200" rtl="0" algn="l">
              <a:spcBef>
                <a:spcPts val="0"/>
              </a:spcBef>
              <a:spcAft>
                <a:spcPts val="0"/>
              </a:spcAft>
              <a:buClr>
                <a:schemeClr val="dk1"/>
              </a:buClr>
              <a:buSzPct val="100000"/>
              <a:buChar char="●"/>
            </a:pPr>
            <a:r>
              <a:rPr lang="en-CA" sz="3600">
                <a:solidFill>
                  <a:schemeClr val="dk1"/>
                </a:solidFill>
              </a:rPr>
              <a:t>Account owned by Dominican Sales Team</a:t>
            </a:r>
            <a:br>
              <a:rPr lang="en-CA" sz="3600">
                <a:solidFill>
                  <a:schemeClr val="dk1"/>
                </a:solidFill>
              </a:rPr>
            </a:br>
            <a:r>
              <a:rPr lang="en-CA" sz="3600">
                <a:solidFill>
                  <a:schemeClr val="dk1"/>
                </a:solidFill>
              </a:rPr>
              <a:t> ➡ </a:t>
            </a:r>
            <a:r>
              <a:rPr b="1" lang="en-CA" sz="3600">
                <a:solidFill>
                  <a:schemeClr val="dk1"/>
                </a:solidFill>
              </a:rPr>
              <a:t>Dominican Sales Manager gets the bonus</a:t>
            </a:r>
            <a:br>
              <a:rPr b="1" lang="en-CA" sz="3600">
                <a:solidFill>
                  <a:schemeClr val="dk1"/>
                </a:solidFill>
              </a:rPr>
            </a:br>
            <a:endParaRPr b="1" sz="3600">
              <a:solidFill>
                <a:schemeClr val="dk1"/>
              </a:solidFill>
            </a:endParaRPr>
          </a:p>
          <a:p>
            <a:pPr indent="0" lvl="0" marL="0" rtl="0" algn="l">
              <a:spcBef>
                <a:spcPts val="1200"/>
              </a:spcBef>
              <a:spcAft>
                <a:spcPts val="0"/>
              </a:spcAft>
              <a:buNone/>
            </a:pPr>
            <a:r>
              <a:rPr b="1" lang="en-CA" sz="3600">
                <a:solidFill>
                  <a:schemeClr val="dk1"/>
                </a:solidFill>
              </a:rPr>
              <a:t>Covia</a:t>
            </a:r>
            <a:endParaRPr b="1" sz="3600">
              <a:solidFill>
                <a:schemeClr val="dk1"/>
              </a:solidFill>
            </a:endParaRPr>
          </a:p>
          <a:p>
            <a:pPr indent="-285750" lvl="0" marL="457200" rtl="0" algn="l">
              <a:spcBef>
                <a:spcPts val="1200"/>
              </a:spcBef>
              <a:spcAft>
                <a:spcPts val="0"/>
              </a:spcAft>
              <a:buClr>
                <a:schemeClr val="dk1"/>
              </a:buClr>
              <a:buSzPct val="100000"/>
              <a:buChar char="●"/>
            </a:pPr>
            <a:r>
              <a:rPr lang="en-CA" sz="3600">
                <a:solidFill>
                  <a:schemeClr val="dk1"/>
                </a:solidFill>
              </a:rPr>
              <a:t>KAS sold the pump</a:t>
            </a:r>
            <a:br>
              <a:rPr lang="en-CA" sz="3600">
                <a:solidFill>
                  <a:schemeClr val="dk1"/>
                </a:solidFill>
              </a:rPr>
            </a:br>
            <a:endParaRPr sz="3600">
              <a:solidFill>
                <a:schemeClr val="dk1"/>
              </a:solidFill>
            </a:endParaRPr>
          </a:p>
          <a:p>
            <a:pPr indent="-285750" lvl="0" marL="457200" rtl="0" algn="l">
              <a:spcBef>
                <a:spcPts val="0"/>
              </a:spcBef>
              <a:spcAft>
                <a:spcPts val="0"/>
              </a:spcAft>
              <a:buClr>
                <a:schemeClr val="dk1"/>
              </a:buClr>
              <a:buSzPct val="100000"/>
              <a:buChar char="●"/>
            </a:pPr>
            <a:r>
              <a:rPr lang="en-CA" sz="3600">
                <a:solidFill>
                  <a:schemeClr val="dk1"/>
                </a:solidFill>
              </a:rPr>
              <a:t>AE supported technically</a:t>
            </a:r>
            <a:br>
              <a:rPr lang="en-CA" sz="3600">
                <a:solidFill>
                  <a:schemeClr val="dk1"/>
                </a:solidFill>
              </a:rPr>
            </a:br>
            <a:r>
              <a:rPr lang="en-CA" sz="3600">
                <a:solidFill>
                  <a:schemeClr val="dk1"/>
                </a:solidFill>
              </a:rPr>
              <a:t> ➡ </a:t>
            </a:r>
            <a:r>
              <a:rPr b="1" lang="en-CA" sz="3600">
                <a:solidFill>
                  <a:schemeClr val="dk1"/>
                </a:solidFill>
              </a:rPr>
              <a:t>KAS Manager gets the bonus</a:t>
            </a:r>
            <a:br>
              <a:rPr b="1" lang="en-CA" sz="3600">
                <a:solidFill>
                  <a:schemeClr val="dk1"/>
                </a:solidFill>
              </a:rPr>
            </a:br>
            <a:endParaRPr b="1" sz="3600">
              <a:solidFill>
                <a:schemeClr val="dk1"/>
              </a:solidFill>
            </a:endParaRPr>
          </a:p>
          <a:p>
            <a:pPr indent="0" lvl="0" marL="0" rtl="0" algn="l">
              <a:spcBef>
                <a:spcPts val="1200"/>
              </a:spcBef>
              <a:spcAft>
                <a:spcPts val="0"/>
              </a:spcAft>
              <a:buNone/>
            </a:pPr>
            <a:r>
              <a:rPr b="1" lang="en-CA" sz="3600">
                <a:solidFill>
                  <a:schemeClr val="dk1"/>
                </a:solidFill>
              </a:rPr>
              <a:t>Hatch Engineering</a:t>
            </a:r>
            <a:endParaRPr b="1" sz="3600">
              <a:solidFill>
                <a:schemeClr val="dk1"/>
              </a:solidFill>
            </a:endParaRPr>
          </a:p>
          <a:p>
            <a:pPr indent="-285750" lvl="0" marL="457200" rtl="0" algn="l">
              <a:spcBef>
                <a:spcPts val="1200"/>
              </a:spcBef>
              <a:spcAft>
                <a:spcPts val="0"/>
              </a:spcAft>
              <a:buClr>
                <a:schemeClr val="dk1"/>
              </a:buClr>
              <a:buSzPct val="100000"/>
              <a:buChar char="●"/>
            </a:pPr>
            <a:r>
              <a:rPr lang="en-CA" sz="3600">
                <a:solidFill>
                  <a:schemeClr val="dk1"/>
                </a:solidFill>
              </a:rPr>
              <a:t>AE team won the bid</a:t>
            </a:r>
            <a:br>
              <a:rPr lang="en-CA" sz="3600">
                <a:solidFill>
                  <a:schemeClr val="dk1"/>
                </a:solidFill>
              </a:rPr>
            </a:br>
            <a:endParaRPr sz="3600">
              <a:solidFill>
                <a:schemeClr val="dk1"/>
              </a:solidFill>
            </a:endParaRPr>
          </a:p>
          <a:p>
            <a:pPr indent="-285750" lvl="0" marL="457200" rtl="0" algn="l">
              <a:spcBef>
                <a:spcPts val="0"/>
              </a:spcBef>
              <a:spcAft>
                <a:spcPts val="0"/>
              </a:spcAft>
              <a:buClr>
                <a:schemeClr val="dk1"/>
              </a:buClr>
              <a:buSzPct val="100000"/>
              <a:buChar char="●"/>
            </a:pPr>
            <a:r>
              <a:rPr lang="en-CA" sz="3600">
                <a:solidFill>
                  <a:schemeClr val="dk1"/>
                </a:solidFill>
              </a:rPr>
              <a:t>Sales supported with calls and </a:t>
            </a:r>
            <a:r>
              <a:rPr lang="en-CA" sz="3600">
                <a:solidFill>
                  <a:schemeClr val="dk1"/>
                </a:solidFill>
              </a:rPr>
              <a:t>presentations</a:t>
            </a:r>
            <a:br>
              <a:rPr lang="en-CA" sz="3600">
                <a:solidFill>
                  <a:schemeClr val="dk1"/>
                </a:solidFill>
              </a:rPr>
            </a:br>
            <a:r>
              <a:rPr lang="en-CA" sz="3600">
                <a:solidFill>
                  <a:schemeClr val="dk1"/>
                </a:solidFill>
              </a:rPr>
              <a:t> ➡ </a:t>
            </a:r>
            <a:r>
              <a:rPr b="1" lang="en-CA" sz="3600">
                <a:solidFill>
                  <a:schemeClr val="dk1"/>
                </a:solidFill>
              </a:rPr>
              <a:t>Application Engineering Manager gets the bonus</a:t>
            </a:r>
            <a:endParaRPr b="1" sz="3600">
              <a:solidFill>
                <a:schemeClr val="dk1"/>
              </a:solidFill>
            </a:endParaRPr>
          </a:p>
          <a:p>
            <a:pPr indent="0" lvl="0" marL="457200" rtl="0" algn="l">
              <a:spcBef>
                <a:spcPts val="1200"/>
              </a:spcBef>
              <a:spcAft>
                <a:spcPts val="0"/>
              </a:spcAft>
              <a:buNone/>
            </a:pPr>
            <a:r>
              <a:t/>
            </a:r>
            <a:endParaRPr b="1" sz="3600">
              <a:solidFill>
                <a:schemeClr val="dk1"/>
              </a:solidFill>
            </a:endParaRPr>
          </a:p>
          <a:p>
            <a:pPr indent="0" lvl="0" marL="381000" marR="38100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5350">
              <a:solidFill>
                <a:schemeClr val="dk1"/>
              </a:solidFill>
            </a:endParaRPr>
          </a:p>
          <a:p>
            <a:pPr indent="0" lvl="0" marL="381000" marR="381000" rtl="0" algn="l">
              <a:spcBef>
                <a:spcPts val="1200"/>
              </a:spcBef>
              <a:spcAft>
                <a:spcPts val="0"/>
              </a:spcAft>
              <a:buNone/>
            </a:pPr>
            <a:r>
              <a:t/>
            </a:r>
            <a:endParaRPr b="1" sz="4350">
              <a:solidFill>
                <a:schemeClr val="dk1"/>
              </a:solidFill>
            </a:endParaRPr>
          </a:p>
          <a:p>
            <a:pPr indent="0" lvl="0" marL="0" rtl="0" algn="l">
              <a:spcBef>
                <a:spcPts val="1200"/>
              </a:spcBef>
              <a:spcAft>
                <a:spcPts val="0"/>
              </a:spcAft>
              <a:buNone/>
            </a:pPr>
            <a:r>
              <a:t/>
            </a:r>
            <a:endParaRPr b="1" sz="3209">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2400"/>
              </a:spcBef>
              <a:spcAft>
                <a:spcPts val="0"/>
              </a:spcAft>
              <a:buNone/>
            </a:pPr>
            <a:r>
              <a:rPr b="1" lang="en-CA" sz="7100">
                <a:solidFill>
                  <a:schemeClr val="dk1"/>
                </a:solidFill>
              </a:rPr>
              <a:t>NO DOUBLE COMMISSIONING (VERY IMPORTANT)</a:t>
            </a:r>
            <a:endParaRPr b="1" sz="7100">
              <a:solidFill>
                <a:schemeClr val="dk1"/>
              </a:solidFill>
            </a:endParaRPr>
          </a:p>
          <a:p>
            <a:pPr indent="0" lvl="0" marL="0" rtl="0" algn="l">
              <a:spcBef>
                <a:spcPts val="1800"/>
              </a:spcBef>
              <a:spcAft>
                <a:spcPts val="0"/>
              </a:spcAft>
              <a:buNone/>
            </a:pPr>
            <a:r>
              <a:rPr b="1" lang="en-CA" sz="3600">
                <a:solidFill>
                  <a:schemeClr val="dk1"/>
                </a:solidFill>
              </a:rPr>
              <a:t>Managers Are Not Double-Compensated</a:t>
            </a:r>
            <a:endParaRPr b="1" sz="3600">
              <a:solidFill>
                <a:schemeClr val="dk1"/>
              </a:solidFill>
            </a:endParaRPr>
          </a:p>
          <a:p>
            <a:pPr indent="0" lvl="0" marL="381000" marR="381000" rtl="0" algn="l">
              <a:spcBef>
                <a:spcPts val="1200"/>
              </a:spcBef>
              <a:spcAft>
                <a:spcPts val="0"/>
              </a:spcAft>
              <a:buNone/>
            </a:pPr>
            <a:r>
              <a:rPr lang="en-CA" sz="3600">
                <a:solidFill>
                  <a:schemeClr val="dk1"/>
                </a:solidFill>
              </a:rPr>
              <a:t>A manager is never paid </a:t>
            </a:r>
            <a:r>
              <a:rPr b="1" lang="en-CA" sz="3600">
                <a:solidFill>
                  <a:schemeClr val="dk1"/>
                </a:solidFill>
              </a:rPr>
              <a:t>both</a:t>
            </a:r>
            <a:r>
              <a:rPr lang="en-CA" sz="3600">
                <a:solidFill>
                  <a:schemeClr val="dk1"/>
                </a:solidFill>
              </a:rPr>
              <a:t> a sales commission </a:t>
            </a:r>
            <a:r>
              <a:rPr b="1" lang="en-CA" sz="3600">
                <a:solidFill>
                  <a:schemeClr val="dk1"/>
                </a:solidFill>
              </a:rPr>
              <a:t>and</a:t>
            </a:r>
            <a:r>
              <a:rPr lang="en-CA" sz="3600">
                <a:solidFill>
                  <a:schemeClr val="dk1"/>
                </a:solidFill>
              </a:rPr>
              <a:t> a manager bonus on the same deal.</a:t>
            </a:r>
            <a:endParaRPr sz="3600">
              <a:solidFill>
                <a:schemeClr val="dk1"/>
              </a:solidFill>
            </a:endParaRPr>
          </a:p>
          <a:p>
            <a:pPr indent="0" lvl="0" marL="0" rtl="0" algn="l">
              <a:spcBef>
                <a:spcPts val="1200"/>
              </a:spcBef>
              <a:spcAft>
                <a:spcPts val="0"/>
              </a:spcAft>
              <a:buNone/>
            </a:pPr>
            <a:r>
              <a:rPr lang="en-CA" sz="3600">
                <a:solidFill>
                  <a:schemeClr val="dk1"/>
                </a:solidFill>
              </a:rPr>
              <a:t>If a manager personally sells a new account:</a:t>
            </a:r>
            <a:endParaRPr sz="3600">
              <a:solidFill>
                <a:schemeClr val="dk1"/>
              </a:solidFill>
            </a:endParaRPr>
          </a:p>
          <a:p>
            <a:pPr indent="-285750" lvl="0" marL="457200" rtl="0" algn="l">
              <a:spcBef>
                <a:spcPts val="1200"/>
              </a:spcBef>
              <a:spcAft>
                <a:spcPts val="0"/>
              </a:spcAft>
              <a:buClr>
                <a:schemeClr val="dk1"/>
              </a:buClr>
              <a:buSzPct val="100000"/>
              <a:buChar char="●"/>
            </a:pPr>
            <a:r>
              <a:rPr lang="en-CA" sz="3600">
                <a:solidFill>
                  <a:schemeClr val="dk1"/>
                </a:solidFill>
              </a:rPr>
              <a:t>The deal is paid </a:t>
            </a:r>
            <a:r>
              <a:rPr b="1" lang="en-CA" sz="3600">
                <a:solidFill>
                  <a:schemeClr val="dk1"/>
                </a:solidFill>
              </a:rPr>
              <a:t>only at the manager bonus percentage</a:t>
            </a:r>
            <a:br>
              <a:rPr b="1" lang="en-CA" sz="3600">
                <a:solidFill>
                  <a:schemeClr val="dk1"/>
                </a:solidFill>
              </a:rPr>
            </a:br>
            <a:endParaRPr b="1" sz="3600">
              <a:solidFill>
                <a:schemeClr val="dk1"/>
              </a:solidFill>
            </a:endParaRPr>
          </a:p>
          <a:p>
            <a:pPr indent="-285750" lvl="0" marL="457200" rtl="0" algn="l">
              <a:spcBef>
                <a:spcPts val="0"/>
              </a:spcBef>
              <a:spcAft>
                <a:spcPts val="0"/>
              </a:spcAft>
              <a:buClr>
                <a:schemeClr val="dk1"/>
              </a:buClr>
              <a:buSzPct val="100000"/>
              <a:buChar char="●"/>
            </a:pPr>
            <a:r>
              <a:rPr lang="en-CA" sz="3600">
                <a:solidFill>
                  <a:schemeClr val="dk1"/>
                </a:solidFill>
              </a:rPr>
              <a:t>No salesperson commission applies</a:t>
            </a:r>
            <a:br>
              <a:rPr lang="en-CA" sz="3600">
                <a:solidFill>
                  <a:schemeClr val="dk1"/>
                </a:solidFill>
              </a:rPr>
            </a:br>
            <a:endParaRPr sz="3600">
              <a:solidFill>
                <a:schemeClr val="dk1"/>
              </a:solidFill>
            </a:endParaRPr>
          </a:p>
          <a:p>
            <a:pPr indent="0" lvl="0" marL="0" rtl="0" algn="l">
              <a:spcBef>
                <a:spcPts val="1200"/>
              </a:spcBef>
              <a:spcAft>
                <a:spcPts val="0"/>
              </a:spcAft>
              <a:buNone/>
            </a:pPr>
            <a:r>
              <a:rPr lang="en-CA" sz="3600">
                <a:solidFill>
                  <a:schemeClr val="dk1"/>
                </a:solidFill>
              </a:rPr>
              <a:t>This ensures:</a:t>
            </a:r>
            <a:endParaRPr sz="3600">
              <a:solidFill>
                <a:schemeClr val="dk1"/>
              </a:solidFill>
            </a:endParaRPr>
          </a:p>
          <a:p>
            <a:pPr indent="-285750" lvl="0" marL="457200" rtl="0" algn="l">
              <a:spcBef>
                <a:spcPts val="1200"/>
              </a:spcBef>
              <a:spcAft>
                <a:spcPts val="0"/>
              </a:spcAft>
              <a:buClr>
                <a:schemeClr val="dk1"/>
              </a:buClr>
              <a:buSzPct val="100000"/>
              <a:buChar char="●"/>
            </a:pPr>
            <a:r>
              <a:rPr lang="en-CA" sz="3600">
                <a:solidFill>
                  <a:schemeClr val="dk1"/>
                </a:solidFill>
              </a:rPr>
              <a:t>Proper account assignment</a:t>
            </a:r>
            <a:br>
              <a:rPr lang="en-CA" sz="3600">
                <a:solidFill>
                  <a:schemeClr val="dk1"/>
                </a:solidFill>
              </a:rPr>
            </a:br>
            <a:endParaRPr sz="3600">
              <a:solidFill>
                <a:schemeClr val="dk1"/>
              </a:solidFill>
            </a:endParaRPr>
          </a:p>
          <a:p>
            <a:pPr indent="-285750" lvl="0" marL="457200" rtl="0" algn="l">
              <a:spcBef>
                <a:spcPts val="0"/>
              </a:spcBef>
              <a:spcAft>
                <a:spcPts val="0"/>
              </a:spcAft>
              <a:buClr>
                <a:schemeClr val="dk1"/>
              </a:buClr>
              <a:buSzPct val="100000"/>
              <a:buChar char="●"/>
            </a:pPr>
            <a:r>
              <a:rPr lang="en-CA" sz="3600">
                <a:solidFill>
                  <a:schemeClr val="dk1"/>
                </a:solidFill>
              </a:rPr>
              <a:t>Strong team development</a:t>
            </a:r>
            <a:endParaRPr sz="3600">
              <a:solidFill>
                <a:schemeClr val="dk1"/>
              </a:solidFill>
            </a:endParaRPr>
          </a:p>
          <a:p>
            <a:pPr indent="0" lvl="0" marL="457200" rtl="0" algn="l">
              <a:spcBef>
                <a:spcPts val="1200"/>
              </a:spcBef>
              <a:spcAft>
                <a:spcPts val="0"/>
              </a:spcAft>
              <a:buNone/>
            </a:pPr>
            <a:br>
              <a:rPr lang="en-CA" sz="3600">
                <a:solidFill>
                  <a:schemeClr val="dk1"/>
                </a:solidFill>
              </a:rPr>
            </a:br>
            <a:endParaRPr sz="3600">
              <a:solidFill>
                <a:schemeClr val="dk1"/>
              </a:solidFill>
            </a:endParaRPr>
          </a:p>
          <a:p>
            <a:pPr indent="0" lvl="0" marL="381000" marR="38100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5350">
              <a:solidFill>
                <a:schemeClr val="dk1"/>
              </a:solidFill>
            </a:endParaRPr>
          </a:p>
          <a:p>
            <a:pPr indent="0" lvl="0" marL="381000" marR="381000" rtl="0" algn="l">
              <a:spcBef>
                <a:spcPts val="1200"/>
              </a:spcBef>
              <a:spcAft>
                <a:spcPts val="0"/>
              </a:spcAft>
              <a:buNone/>
            </a:pPr>
            <a:r>
              <a:t/>
            </a:r>
            <a:endParaRPr b="1" sz="4350">
              <a:solidFill>
                <a:schemeClr val="dk1"/>
              </a:solidFill>
            </a:endParaRPr>
          </a:p>
          <a:p>
            <a:pPr indent="0" lvl="0" marL="0" rtl="0" algn="l">
              <a:spcBef>
                <a:spcPts val="1200"/>
              </a:spcBef>
              <a:spcAft>
                <a:spcPts val="0"/>
              </a:spcAft>
              <a:buNone/>
            </a:pPr>
            <a:r>
              <a:t/>
            </a:r>
            <a:endParaRPr b="1" sz="3209">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2400"/>
              </a:spcBef>
              <a:spcAft>
                <a:spcPts val="0"/>
              </a:spcAft>
              <a:buNone/>
            </a:pPr>
            <a:r>
              <a:rPr b="1" lang="en-CA" sz="7100">
                <a:solidFill>
                  <a:schemeClr val="dk1"/>
                </a:solidFill>
              </a:rPr>
              <a:t>CORRECT MANAGER BEHAVIOR</a:t>
            </a:r>
            <a:endParaRPr b="1" sz="7100">
              <a:solidFill>
                <a:schemeClr val="dk1"/>
              </a:solidFill>
            </a:endParaRPr>
          </a:p>
          <a:p>
            <a:pPr indent="0" lvl="0" marL="0" rtl="0" algn="l">
              <a:spcBef>
                <a:spcPts val="1800"/>
              </a:spcBef>
              <a:spcAft>
                <a:spcPts val="0"/>
              </a:spcAft>
              <a:buNone/>
            </a:pPr>
            <a:r>
              <a:rPr b="1" lang="en-CA" sz="3600">
                <a:solidFill>
                  <a:schemeClr val="dk1"/>
                </a:solidFill>
              </a:rPr>
              <a:t>What Good Leadership Looks Like</a:t>
            </a:r>
            <a:endParaRPr b="1" sz="3600">
              <a:solidFill>
                <a:schemeClr val="dk1"/>
              </a:solidFill>
            </a:endParaRPr>
          </a:p>
          <a:p>
            <a:pPr indent="-285750" lvl="0" marL="457200" rtl="0" algn="l">
              <a:spcBef>
                <a:spcPts val="1200"/>
              </a:spcBef>
              <a:spcAft>
                <a:spcPts val="0"/>
              </a:spcAft>
              <a:buClr>
                <a:schemeClr val="dk1"/>
              </a:buClr>
              <a:buSzPct val="100000"/>
              <a:buChar char="●"/>
            </a:pPr>
            <a:r>
              <a:rPr lang="en-CA" sz="3600">
                <a:solidFill>
                  <a:schemeClr val="dk1"/>
                </a:solidFill>
              </a:rPr>
              <a:t>Manager opens the door or receives opportunity</a:t>
            </a:r>
            <a:br>
              <a:rPr lang="en-CA" sz="3600">
                <a:solidFill>
                  <a:schemeClr val="dk1"/>
                </a:solidFill>
              </a:rPr>
            </a:br>
            <a:endParaRPr sz="3600">
              <a:solidFill>
                <a:schemeClr val="dk1"/>
              </a:solidFill>
            </a:endParaRPr>
          </a:p>
          <a:p>
            <a:pPr indent="-285750" lvl="0" marL="457200" rtl="0" algn="l">
              <a:spcBef>
                <a:spcPts val="0"/>
              </a:spcBef>
              <a:spcAft>
                <a:spcPts val="0"/>
              </a:spcAft>
              <a:buClr>
                <a:schemeClr val="dk1"/>
              </a:buClr>
              <a:buSzPct val="100000"/>
              <a:buChar char="●"/>
            </a:pPr>
            <a:r>
              <a:rPr lang="en-CA" sz="3600">
                <a:solidFill>
                  <a:schemeClr val="dk1"/>
                </a:solidFill>
              </a:rPr>
              <a:t>Account is assigned to a team member</a:t>
            </a:r>
            <a:br>
              <a:rPr lang="en-CA" sz="3600">
                <a:solidFill>
                  <a:schemeClr val="dk1"/>
                </a:solidFill>
              </a:rPr>
            </a:br>
            <a:endParaRPr sz="3600">
              <a:solidFill>
                <a:schemeClr val="dk1"/>
              </a:solidFill>
            </a:endParaRPr>
          </a:p>
          <a:p>
            <a:pPr indent="-285750" lvl="0" marL="457200" rtl="0" algn="l">
              <a:spcBef>
                <a:spcPts val="0"/>
              </a:spcBef>
              <a:spcAft>
                <a:spcPts val="0"/>
              </a:spcAft>
              <a:buClr>
                <a:schemeClr val="dk1"/>
              </a:buClr>
              <a:buSzPct val="100000"/>
              <a:buChar char="●"/>
            </a:pPr>
            <a:r>
              <a:rPr lang="en-CA" sz="3600">
                <a:solidFill>
                  <a:schemeClr val="dk1"/>
                </a:solidFill>
              </a:rPr>
              <a:t>Team member runs the sale</a:t>
            </a:r>
            <a:br>
              <a:rPr lang="en-CA" sz="3600">
                <a:solidFill>
                  <a:schemeClr val="dk1"/>
                </a:solidFill>
              </a:rPr>
            </a:br>
            <a:endParaRPr sz="3600">
              <a:solidFill>
                <a:schemeClr val="dk1"/>
              </a:solidFill>
            </a:endParaRPr>
          </a:p>
          <a:p>
            <a:pPr indent="-285750" lvl="0" marL="457200" rtl="0" algn="l">
              <a:spcBef>
                <a:spcPts val="0"/>
              </a:spcBef>
              <a:spcAft>
                <a:spcPts val="0"/>
              </a:spcAft>
              <a:buClr>
                <a:schemeClr val="dk1"/>
              </a:buClr>
              <a:buSzPct val="100000"/>
              <a:buChar char="●"/>
            </a:pPr>
            <a:r>
              <a:rPr lang="en-CA" sz="3600">
                <a:solidFill>
                  <a:schemeClr val="dk1"/>
                </a:solidFill>
              </a:rPr>
              <a:t>Manager coaches and supports</a:t>
            </a:r>
            <a:br>
              <a:rPr lang="en-CA" sz="3600">
                <a:solidFill>
                  <a:schemeClr val="dk1"/>
                </a:solidFill>
              </a:rPr>
            </a:br>
            <a:endParaRPr sz="3600">
              <a:solidFill>
                <a:schemeClr val="dk1"/>
              </a:solidFill>
            </a:endParaRPr>
          </a:p>
          <a:p>
            <a:pPr indent="0" lvl="0" marL="0" rtl="0" algn="l">
              <a:spcBef>
                <a:spcPts val="1200"/>
              </a:spcBef>
              <a:spcAft>
                <a:spcPts val="0"/>
              </a:spcAft>
              <a:buNone/>
            </a:pPr>
            <a:r>
              <a:rPr lang="en-CA" sz="3600">
                <a:solidFill>
                  <a:schemeClr val="dk1"/>
                </a:solidFill>
              </a:rPr>
              <a:t>Result:</a:t>
            </a:r>
            <a:endParaRPr sz="3600">
              <a:solidFill>
                <a:schemeClr val="dk1"/>
              </a:solidFill>
            </a:endParaRPr>
          </a:p>
          <a:p>
            <a:pPr indent="-285750" lvl="0" marL="457200" rtl="0" algn="l">
              <a:spcBef>
                <a:spcPts val="1200"/>
              </a:spcBef>
              <a:spcAft>
                <a:spcPts val="0"/>
              </a:spcAft>
              <a:buClr>
                <a:schemeClr val="dk1"/>
              </a:buClr>
              <a:buSzPct val="100000"/>
              <a:buChar char="●"/>
            </a:pPr>
            <a:r>
              <a:rPr lang="en-CA" sz="3600">
                <a:solidFill>
                  <a:schemeClr val="dk1"/>
                </a:solidFill>
              </a:rPr>
              <a:t>Team member(s) gets commission</a:t>
            </a:r>
            <a:br>
              <a:rPr lang="en-CA" sz="3600">
                <a:solidFill>
                  <a:schemeClr val="dk1"/>
                </a:solidFill>
              </a:rPr>
            </a:br>
            <a:endParaRPr sz="3600">
              <a:solidFill>
                <a:schemeClr val="dk1"/>
              </a:solidFill>
            </a:endParaRPr>
          </a:p>
          <a:p>
            <a:pPr indent="-285750" lvl="0" marL="457200" rtl="0" algn="l">
              <a:spcBef>
                <a:spcPts val="0"/>
              </a:spcBef>
              <a:spcAft>
                <a:spcPts val="0"/>
              </a:spcAft>
              <a:buClr>
                <a:schemeClr val="dk1"/>
              </a:buClr>
              <a:buSzPct val="100000"/>
              <a:buChar char="●"/>
            </a:pPr>
            <a:r>
              <a:rPr lang="en-CA" sz="3600">
                <a:solidFill>
                  <a:schemeClr val="dk1"/>
                </a:solidFill>
              </a:rPr>
              <a:t>Manager gets manager bonus</a:t>
            </a:r>
            <a:br>
              <a:rPr lang="en-CA" sz="3600">
                <a:solidFill>
                  <a:schemeClr val="dk1"/>
                </a:solidFill>
              </a:rPr>
            </a:br>
            <a:endParaRPr sz="3600">
              <a:solidFill>
                <a:schemeClr val="dk1"/>
              </a:solidFill>
            </a:endParaRPr>
          </a:p>
          <a:p>
            <a:pPr indent="0" lvl="0" marL="0" rtl="0" algn="l">
              <a:spcBef>
                <a:spcPts val="1200"/>
              </a:spcBef>
              <a:spcAft>
                <a:spcPts val="0"/>
              </a:spcAft>
              <a:buNone/>
            </a:pPr>
            <a:r>
              <a:rPr lang="en-CA" sz="3600">
                <a:solidFill>
                  <a:schemeClr val="dk1"/>
                </a:solidFill>
              </a:rPr>
              <a:t>This is the model we expect.</a:t>
            </a:r>
            <a:endParaRPr sz="3600">
              <a:solidFill>
                <a:schemeClr val="dk1"/>
              </a:solidFill>
            </a:endParaRPr>
          </a:p>
          <a:p>
            <a:pPr indent="0" lvl="0" marL="457200" rtl="0" algn="l">
              <a:spcBef>
                <a:spcPts val="1200"/>
              </a:spcBef>
              <a:spcAft>
                <a:spcPts val="0"/>
              </a:spcAft>
              <a:buNone/>
            </a:pPr>
            <a:r>
              <a:t/>
            </a:r>
            <a:endParaRPr b="1" sz="2300">
              <a:solidFill>
                <a:schemeClr val="dk1"/>
              </a:solidFill>
            </a:endParaRPr>
          </a:p>
          <a:p>
            <a:pPr indent="0" lvl="0" marL="381000" marR="38100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5350">
              <a:solidFill>
                <a:schemeClr val="dk1"/>
              </a:solidFill>
            </a:endParaRPr>
          </a:p>
          <a:p>
            <a:pPr indent="0" lvl="0" marL="381000" marR="381000" rtl="0" algn="l">
              <a:spcBef>
                <a:spcPts val="1200"/>
              </a:spcBef>
              <a:spcAft>
                <a:spcPts val="0"/>
              </a:spcAft>
              <a:buNone/>
            </a:pPr>
            <a:r>
              <a:t/>
            </a:r>
            <a:endParaRPr b="1" sz="4350">
              <a:solidFill>
                <a:schemeClr val="dk1"/>
              </a:solidFill>
            </a:endParaRPr>
          </a:p>
          <a:p>
            <a:pPr indent="0" lvl="0" marL="0" rtl="0" algn="l">
              <a:spcBef>
                <a:spcPts val="1200"/>
              </a:spcBef>
              <a:spcAft>
                <a:spcPts val="0"/>
              </a:spcAft>
              <a:buNone/>
            </a:pPr>
            <a:r>
              <a:t/>
            </a:r>
            <a:endParaRPr b="1" sz="3209">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2400"/>
              </a:spcBef>
              <a:spcAft>
                <a:spcPts val="0"/>
              </a:spcAft>
              <a:buClr>
                <a:schemeClr val="dk1"/>
              </a:buClr>
              <a:buSzPts val="275"/>
              <a:buFont typeface="Arial"/>
              <a:buNone/>
            </a:pPr>
            <a:r>
              <a:rPr b="1" lang="en-CA" sz="7100">
                <a:solidFill>
                  <a:schemeClr val="dk1"/>
                </a:solidFill>
              </a:rPr>
              <a:t>COMMISSION FLOW (SIMPLE)</a:t>
            </a:r>
            <a:endParaRPr b="1" sz="7100">
              <a:solidFill>
                <a:schemeClr val="dk1"/>
              </a:solidFill>
            </a:endParaRPr>
          </a:p>
          <a:p>
            <a:pPr indent="0" lvl="0" marL="0" rtl="0" algn="l">
              <a:spcBef>
                <a:spcPts val="1800"/>
              </a:spcBef>
              <a:spcAft>
                <a:spcPts val="0"/>
              </a:spcAft>
              <a:buClr>
                <a:schemeClr val="dk1"/>
              </a:buClr>
              <a:buSzPct val="30555"/>
              <a:buFont typeface="Arial"/>
              <a:buNone/>
            </a:pPr>
            <a:r>
              <a:rPr b="1" lang="en-CA" sz="3600">
                <a:solidFill>
                  <a:schemeClr val="dk1"/>
                </a:solidFill>
              </a:rPr>
              <a:t>The Only Path to Commission</a:t>
            </a:r>
            <a:endParaRPr b="1" sz="3600">
              <a:solidFill>
                <a:schemeClr val="dk1"/>
              </a:solidFill>
            </a:endParaRPr>
          </a:p>
          <a:p>
            <a:pPr indent="0" lvl="0" marL="0" rtl="0" algn="l">
              <a:spcBef>
                <a:spcPts val="1200"/>
              </a:spcBef>
              <a:spcAft>
                <a:spcPts val="0"/>
              </a:spcAft>
              <a:buClr>
                <a:schemeClr val="dk1"/>
              </a:buClr>
              <a:buSzPct val="30555"/>
              <a:buFont typeface="Arial"/>
              <a:buNone/>
            </a:pPr>
            <a:r>
              <a:rPr b="1" lang="en-CA" sz="3600">
                <a:solidFill>
                  <a:schemeClr val="dk1"/>
                </a:solidFill>
              </a:rPr>
              <a:t>Client Interaction</a:t>
            </a:r>
            <a:br>
              <a:rPr b="1" lang="en-CA" sz="3600">
                <a:solidFill>
                  <a:schemeClr val="dk1"/>
                </a:solidFill>
              </a:rPr>
            </a:br>
            <a:r>
              <a:rPr lang="en-CA" sz="3600">
                <a:solidFill>
                  <a:schemeClr val="dk1"/>
                </a:solidFill>
              </a:rPr>
              <a:t> → Logged in HubSpot</a:t>
            </a:r>
            <a:br>
              <a:rPr lang="en-CA" sz="3600">
                <a:solidFill>
                  <a:schemeClr val="dk1"/>
                </a:solidFill>
              </a:rPr>
            </a:br>
            <a:r>
              <a:rPr lang="en-CA" sz="3600">
                <a:solidFill>
                  <a:schemeClr val="dk1"/>
                </a:solidFill>
              </a:rPr>
              <a:t> → Contributor Tagged</a:t>
            </a:r>
            <a:br>
              <a:rPr lang="en-CA" sz="3600">
                <a:solidFill>
                  <a:schemeClr val="dk1"/>
                </a:solidFill>
              </a:rPr>
            </a:br>
            <a:r>
              <a:rPr lang="en-CA" sz="3600">
                <a:solidFill>
                  <a:schemeClr val="dk1"/>
                </a:solidFill>
              </a:rPr>
              <a:t> → Deal Marked “Won”</a:t>
            </a:r>
            <a:br>
              <a:rPr lang="en-CA" sz="3600">
                <a:solidFill>
                  <a:schemeClr val="dk1"/>
                </a:solidFill>
              </a:rPr>
            </a:br>
            <a:r>
              <a:rPr lang="en-CA" sz="3600">
                <a:solidFill>
                  <a:schemeClr val="dk1"/>
                </a:solidFill>
              </a:rPr>
              <a:t> → Client Fully Pays &amp; Product is Delivered</a:t>
            </a:r>
            <a:br>
              <a:rPr lang="en-CA" sz="3600">
                <a:solidFill>
                  <a:schemeClr val="dk1"/>
                </a:solidFill>
              </a:rPr>
            </a:br>
            <a:r>
              <a:rPr lang="en-CA" sz="3600">
                <a:solidFill>
                  <a:schemeClr val="dk1"/>
                </a:solidFill>
              </a:rPr>
              <a:t> → Commission / Bonus Calculated &amp; Paid</a:t>
            </a:r>
            <a:endParaRPr sz="3600">
              <a:solidFill>
                <a:schemeClr val="dk1"/>
              </a:solidFill>
            </a:endParaRPr>
          </a:p>
          <a:p>
            <a:pPr indent="0" lvl="0" marL="0" rtl="0" algn="l">
              <a:spcBef>
                <a:spcPts val="1200"/>
              </a:spcBef>
              <a:spcAft>
                <a:spcPts val="0"/>
              </a:spcAft>
              <a:buClr>
                <a:schemeClr val="dk1"/>
              </a:buClr>
              <a:buSzPct val="30555"/>
              <a:buFont typeface="Arial"/>
              <a:buNone/>
            </a:pPr>
            <a:r>
              <a:rPr lang="en-CA" sz="3600">
                <a:solidFill>
                  <a:schemeClr val="dk1"/>
                </a:solidFill>
              </a:rPr>
              <a:t>Missing any step = </a:t>
            </a:r>
            <a:r>
              <a:rPr b="1" lang="en-CA" sz="3600">
                <a:solidFill>
                  <a:schemeClr val="dk1"/>
                </a:solidFill>
              </a:rPr>
              <a:t>no payout</a:t>
            </a:r>
            <a:endParaRPr b="1" sz="36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457200" rtl="0" algn="l">
              <a:spcBef>
                <a:spcPts val="1200"/>
              </a:spcBef>
              <a:spcAft>
                <a:spcPts val="0"/>
              </a:spcAft>
              <a:buNone/>
            </a:pPr>
            <a:r>
              <a:t/>
            </a:r>
            <a:endParaRPr b="1" sz="2300">
              <a:solidFill>
                <a:schemeClr val="dk1"/>
              </a:solidFill>
            </a:endParaRPr>
          </a:p>
          <a:p>
            <a:pPr indent="0" lvl="0" marL="381000" marR="38100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5350">
              <a:solidFill>
                <a:schemeClr val="dk1"/>
              </a:solidFill>
            </a:endParaRPr>
          </a:p>
          <a:p>
            <a:pPr indent="0" lvl="0" marL="381000" marR="381000" rtl="0" algn="l">
              <a:spcBef>
                <a:spcPts val="1200"/>
              </a:spcBef>
              <a:spcAft>
                <a:spcPts val="0"/>
              </a:spcAft>
              <a:buNone/>
            </a:pPr>
            <a:r>
              <a:t/>
            </a:r>
            <a:endParaRPr b="1" sz="4350">
              <a:solidFill>
                <a:schemeClr val="dk1"/>
              </a:solidFill>
            </a:endParaRPr>
          </a:p>
          <a:p>
            <a:pPr indent="0" lvl="0" marL="0" rtl="0" algn="l">
              <a:spcBef>
                <a:spcPts val="1200"/>
              </a:spcBef>
              <a:spcAft>
                <a:spcPts val="0"/>
              </a:spcAft>
              <a:buNone/>
            </a:pPr>
            <a:r>
              <a:t/>
            </a:r>
            <a:endParaRPr b="1" sz="3209">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2400"/>
              </a:spcBef>
              <a:spcAft>
                <a:spcPts val="0"/>
              </a:spcAft>
              <a:buNone/>
            </a:pPr>
            <a:r>
              <a:rPr b="1" lang="en-CA" sz="7100">
                <a:solidFill>
                  <a:schemeClr val="dk1"/>
                </a:solidFill>
              </a:rPr>
              <a:t>NEXT SUGGESTED STEPS FOR MANAGERS (PROCESS)</a:t>
            </a:r>
            <a:endParaRPr b="1" sz="7100">
              <a:solidFill>
                <a:schemeClr val="dk1"/>
              </a:solidFill>
            </a:endParaRPr>
          </a:p>
          <a:p>
            <a:pPr indent="0" lvl="0" marL="0" rtl="0" algn="l">
              <a:spcBef>
                <a:spcPts val="1800"/>
              </a:spcBef>
              <a:spcAft>
                <a:spcPts val="0"/>
              </a:spcAft>
              <a:buNone/>
            </a:pPr>
            <a:r>
              <a:rPr b="1" lang="en-CA" sz="3600">
                <a:solidFill>
                  <a:schemeClr val="dk1"/>
                </a:solidFill>
              </a:rPr>
              <a:t>Commission Tracking – Manager Responsibility</a:t>
            </a:r>
            <a:endParaRPr b="1" sz="3600">
              <a:solidFill>
                <a:schemeClr val="dk1"/>
              </a:solidFill>
            </a:endParaRPr>
          </a:p>
          <a:p>
            <a:pPr indent="0" lvl="0" marL="0" rtl="0" algn="l">
              <a:spcBef>
                <a:spcPts val="1200"/>
              </a:spcBef>
              <a:spcAft>
                <a:spcPts val="0"/>
              </a:spcAft>
              <a:buNone/>
            </a:pPr>
            <a:r>
              <a:rPr lang="en-CA" sz="3600">
                <a:solidFill>
                  <a:schemeClr val="dk1"/>
                </a:solidFill>
              </a:rPr>
              <a:t>To simplify tracking and payments:</a:t>
            </a:r>
            <a:endParaRPr sz="3600">
              <a:solidFill>
                <a:schemeClr val="dk1"/>
              </a:solidFill>
            </a:endParaRPr>
          </a:p>
          <a:p>
            <a:pPr indent="-285750" lvl="0" marL="457200" rtl="0" algn="l">
              <a:spcBef>
                <a:spcPts val="1200"/>
              </a:spcBef>
              <a:spcAft>
                <a:spcPts val="0"/>
              </a:spcAft>
              <a:buClr>
                <a:schemeClr val="dk1"/>
              </a:buClr>
              <a:buSzPct val="100000"/>
              <a:buChar char="●"/>
            </a:pPr>
            <a:r>
              <a:rPr lang="en-CA" sz="3600">
                <a:solidFill>
                  <a:schemeClr val="dk1"/>
                </a:solidFill>
              </a:rPr>
              <a:t>Each manager SHOULD maintain </a:t>
            </a:r>
            <a:r>
              <a:rPr b="1" lang="en-CA" sz="3600">
                <a:solidFill>
                  <a:schemeClr val="dk1"/>
                </a:solidFill>
              </a:rPr>
              <a:t>one shared spreadsheet (You can combine all managers if preferred)</a:t>
            </a:r>
            <a:br>
              <a:rPr b="1" lang="en-CA" sz="3600">
                <a:solidFill>
                  <a:schemeClr val="dk1"/>
                </a:solidFill>
              </a:rPr>
            </a:br>
            <a:endParaRPr b="1" sz="3600">
              <a:solidFill>
                <a:schemeClr val="dk1"/>
              </a:solidFill>
            </a:endParaRPr>
          </a:p>
          <a:p>
            <a:pPr indent="-285750" lvl="0" marL="457200" rtl="0" algn="l">
              <a:spcBef>
                <a:spcPts val="0"/>
              </a:spcBef>
              <a:spcAft>
                <a:spcPts val="0"/>
              </a:spcAft>
              <a:buClr>
                <a:schemeClr val="dk1"/>
              </a:buClr>
              <a:buSzPct val="100000"/>
              <a:buChar char="●"/>
            </a:pPr>
            <a:r>
              <a:rPr lang="en-CA" sz="3600">
                <a:solidFill>
                  <a:schemeClr val="dk1"/>
                </a:solidFill>
              </a:rPr>
              <a:t>Updated </a:t>
            </a:r>
            <a:r>
              <a:rPr b="1" lang="en-CA" sz="3600">
                <a:solidFill>
                  <a:schemeClr val="dk1"/>
                </a:solidFill>
              </a:rPr>
              <a:t>every time a P.O. is received when team members indicating their involvement to managers through spreadsheet</a:t>
            </a:r>
            <a:br>
              <a:rPr b="1" lang="en-CA" sz="3600">
                <a:solidFill>
                  <a:schemeClr val="dk1"/>
                </a:solidFill>
              </a:rPr>
            </a:br>
            <a:endParaRPr b="1" sz="3600">
              <a:solidFill>
                <a:schemeClr val="dk1"/>
              </a:solidFill>
            </a:endParaRPr>
          </a:p>
          <a:p>
            <a:pPr indent="-285750" lvl="0" marL="457200" rtl="0" algn="l">
              <a:spcBef>
                <a:spcPts val="0"/>
              </a:spcBef>
              <a:spcAft>
                <a:spcPts val="0"/>
              </a:spcAft>
              <a:buClr>
                <a:schemeClr val="dk1"/>
              </a:buClr>
              <a:buSzPct val="100000"/>
              <a:buChar char="●"/>
            </a:pPr>
            <a:r>
              <a:rPr lang="en-CA" sz="3600">
                <a:solidFill>
                  <a:schemeClr val="dk1"/>
                </a:solidFill>
              </a:rPr>
              <a:t>This is the </a:t>
            </a:r>
            <a:r>
              <a:rPr b="1" lang="en-CA" sz="3600">
                <a:solidFill>
                  <a:schemeClr val="dk1"/>
                </a:solidFill>
              </a:rPr>
              <a:t>single source of truth</a:t>
            </a:r>
            <a:r>
              <a:rPr lang="en-CA" sz="3600">
                <a:solidFill>
                  <a:schemeClr val="dk1"/>
                </a:solidFill>
              </a:rPr>
              <a:t> for Finance</a:t>
            </a:r>
            <a:endParaRPr sz="36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457200" rtl="0" algn="l">
              <a:spcBef>
                <a:spcPts val="1200"/>
              </a:spcBef>
              <a:spcAft>
                <a:spcPts val="0"/>
              </a:spcAft>
              <a:buNone/>
            </a:pPr>
            <a:r>
              <a:t/>
            </a:r>
            <a:endParaRPr b="1" sz="2300">
              <a:solidFill>
                <a:schemeClr val="dk1"/>
              </a:solidFill>
            </a:endParaRPr>
          </a:p>
          <a:p>
            <a:pPr indent="0" lvl="0" marL="381000" marR="38100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5350">
              <a:solidFill>
                <a:schemeClr val="dk1"/>
              </a:solidFill>
            </a:endParaRPr>
          </a:p>
          <a:p>
            <a:pPr indent="0" lvl="0" marL="381000" marR="381000" rtl="0" algn="l">
              <a:spcBef>
                <a:spcPts val="1200"/>
              </a:spcBef>
              <a:spcAft>
                <a:spcPts val="0"/>
              </a:spcAft>
              <a:buNone/>
            </a:pPr>
            <a:r>
              <a:t/>
            </a:r>
            <a:endParaRPr b="1" sz="4350">
              <a:solidFill>
                <a:schemeClr val="dk1"/>
              </a:solidFill>
            </a:endParaRPr>
          </a:p>
          <a:p>
            <a:pPr indent="0" lvl="0" marL="0" rtl="0" algn="l">
              <a:spcBef>
                <a:spcPts val="1200"/>
              </a:spcBef>
              <a:spcAft>
                <a:spcPts val="0"/>
              </a:spcAft>
              <a:buNone/>
            </a:pPr>
            <a:r>
              <a:t/>
            </a:r>
            <a:endParaRPr b="1" sz="3209">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28"/>
          <p:cNvSpPr txBox="1"/>
          <p:nvPr>
            <p:ph idx="1" type="body"/>
          </p:nvPr>
        </p:nvSpPr>
        <p:spPr>
          <a:xfrm>
            <a:off x="311700" y="407525"/>
            <a:ext cx="8520600" cy="4161300"/>
          </a:xfrm>
          <a:prstGeom prst="rect">
            <a:avLst/>
          </a:prstGeom>
        </p:spPr>
        <p:txBody>
          <a:bodyPr anchorCtr="0" anchor="t" bIns="91425" lIns="91425" spcFirstLastPara="1" rIns="91425" wrap="square" tIns="91425">
            <a:normAutofit fontScale="25000" lnSpcReduction="20000"/>
          </a:bodyPr>
          <a:lstStyle/>
          <a:p>
            <a:pPr indent="0" lvl="0" marL="0" rtl="0" algn="l">
              <a:spcBef>
                <a:spcPts val="2400"/>
              </a:spcBef>
              <a:spcAft>
                <a:spcPts val="0"/>
              </a:spcAft>
              <a:buNone/>
            </a:pPr>
            <a:r>
              <a:rPr b="1" lang="en-CA" sz="7100">
                <a:solidFill>
                  <a:schemeClr val="dk1"/>
                </a:solidFill>
              </a:rPr>
              <a:t>WHAT GOES IN THE SPREADSHEET</a:t>
            </a:r>
            <a:endParaRPr b="1" sz="7100">
              <a:solidFill>
                <a:schemeClr val="dk1"/>
              </a:solidFill>
            </a:endParaRPr>
          </a:p>
          <a:p>
            <a:pPr indent="0" lvl="0" marL="0" rtl="0" algn="l">
              <a:spcBef>
                <a:spcPts val="1800"/>
              </a:spcBef>
              <a:spcAft>
                <a:spcPts val="0"/>
              </a:spcAft>
              <a:buNone/>
            </a:pPr>
            <a:r>
              <a:rPr b="1" lang="en-CA" sz="3600">
                <a:solidFill>
                  <a:schemeClr val="dk1"/>
                </a:solidFill>
              </a:rPr>
              <a:t>Required Fields Per P.O.</a:t>
            </a:r>
            <a:endParaRPr b="1" sz="3600">
              <a:solidFill>
                <a:schemeClr val="dk1"/>
              </a:solidFill>
            </a:endParaRPr>
          </a:p>
          <a:p>
            <a:pPr indent="0" lvl="0" marL="0" rtl="0" algn="l">
              <a:spcBef>
                <a:spcPts val="1200"/>
              </a:spcBef>
              <a:spcAft>
                <a:spcPts val="0"/>
              </a:spcAft>
              <a:buNone/>
            </a:pPr>
            <a:r>
              <a:rPr lang="en-CA" sz="3600">
                <a:solidFill>
                  <a:schemeClr val="dk1"/>
                </a:solidFill>
              </a:rPr>
              <a:t>For every P.O., record:</a:t>
            </a:r>
            <a:endParaRPr sz="3600">
              <a:solidFill>
                <a:schemeClr val="dk1"/>
              </a:solidFill>
            </a:endParaRPr>
          </a:p>
          <a:p>
            <a:pPr indent="-285750" lvl="0" marL="457200" rtl="0" algn="l">
              <a:spcBef>
                <a:spcPts val="1200"/>
              </a:spcBef>
              <a:spcAft>
                <a:spcPts val="0"/>
              </a:spcAft>
              <a:buClr>
                <a:schemeClr val="dk1"/>
              </a:buClr>
              <a:buSzPct val="100000"/>
              <a:buChar char="●"/>
            </a:pPr>
            <a:r>
              <a:rPr lang="en-CA" sz="3600">
                <a:solidFill>
                  <a:schemeClr val="dk1"/>
                </a:solidFill>
              </a:rPr>
              <a:t>P.O. Number</a:t>
            </a:r>
            <a:br>
              <a:rPr lang="en-CA" sz="3600">
                <a:solidFill>
                  <a:schemeClr val="dk1"/>
                </a:solidFill>
              </a:rPr>
            </a:br>
            <a:endParaRPr sz="3600">
              <a:solidFill>
                <a:schemeClr val="dk1"/>
              </a:solidFill>
            </a:endParaRPr>
          </a:p>
          <a:p>
            <a:pPr indent="-285750" lvl="0" marL="457200" rtl="0" algn="l">
              <a:spcBef>
                <a:spcPts val="0"/>
              </a:spcBef>
              <a:spcAft>
                <a:spcPts val="0"/>
              </a:spcAft>
              <a:buClr>
                <a:schemeClr val="dk1"/>
              </a:buClr>
              <a:buSzPct val="100000"/>
              <a:buChar char="●"/>
            </a:pPr>
            <a:r>
              <a:rPr lang="en-CA" sz="3600">
                <a:solidFill>
                  <a:schemeClr val="dk1"/>
                </a:solidFill>
              </a:rPr>
              <a:t>Client Name</a:t>
            </a:r>
            <a:br>
              <a:rPr lang="en-CA" sz="3600">
                <a:solidFill>
                  <a:schemeClr val="dk1"/>
                </a:solidFill>
              </a:rPr>
            </a:br>
            <a:endParaRPr sz="3600">
              <a:solidFill>
                <a:schemeClr val="dk1"/>
              </a:solidFill>
            </a:endParaRPr>
          </a:p>
          <a:p>
            <a:pPr indent="-285750" lvl="0" marL="457200" rtl="0" algn="l">
              <a:spcBef>
                <a:spcPts val="0"/>
              </a:spcBef>
              <a:spcAft>
                <a:spcPts val="0"/>
              </a:spcAft>
              <a:buClr>
                <a:schemeClr val="dk1"/>
              </a:buClr>
              <a:buSzPct val="100000"/>
              <a:buChar char="●"/>
            </a:pPr>
            <a:r>
              <a:rPr lang="en-CA" sz="3600">
                <a:solidFill>
                  <a:schemeClr val="dk1"/>
                </a:solidFill>
              </a:rPr>
              <a:t>Opportunity Owner (HubSpot)</a:t>
            </a:r>
            <a:br>
              <a:rPr lang="en-CA" sz="3600">
                <a:solidFill>
                  <a:schemeClr val="dk1"/>
                </a:solidFill>
              </a:rPr>
            </a:br>
            <a:endParaRPr sz="3600">
              <a:solidFill>
                <a:schemeClr val="dk1"/>
              </a:solidFill>
            </a:endParaRPr>
          </a:p>
          <a:p>
            <a:pPr indent="-285750" lvl="0" marL="457200" rtl="0" algn="l">
              <a:spcBef>
                <a:spcPts val="0"/>
              </a:spcBef>
              <a:spcAft>
                <a:spcPts val="0"/>
              </a:spcAft>
              <a:buClr>
                <a:schemeClr val="dk1"/>
              </a:buClr>
              <a:buSzPct val="100000"/>
              <a:buChar char="●"/>
            </a:pPr>
            <a:r>
              <a:rPr lang="en-CA" sz="3600">
                <a:solidFill>
                  <a:schemeClr val="dk1"/>
                </a:solidFill>
              </a:rPr>
              <a:t>Team Member Name</a:t>
            </a:r>
            <a:br>
              <a:rPr lang="en-CA" sz="3600">
                <a:solidFill>
                  <a:schemeClr val="dk1"/>
                </a:solidFill>
              </a:rPr>
            </a:br>
            <a:endParaRPr sz="3600">
              <a:solidFill>
                <a:schemeClr val="dk1"/>
              </a:solidFill>
            </a:endParaRPr>
          </a:p>
          <a:p>
            <a:pPr indent="-285750" lvl="0" marL="457200" rtl="0" algn="l">
              <a:spcBef>
                <a:spcPts val="0"/>
              </a:spcBef>
              <a:spcAft>
                <a:spcPts val="0"/>
              </a:spcAft>
              <a:buClr>
                <a:schemeClr val="dk1"/>
              </a:buClr>
              <a:buSzPct val="100000"/>
              <a:buChar char="●"/>
            </a:pPr>
            <a:r>
              <a:rPr lang="en-CA" sz="3600">
                <a:solidFill>
                  <a:schemeClr val="dk1"/>
                </a:solidFill>
              </a:rPr>
              <a:t>Role (Sales / KAS / AE / FS)</a:t>
            </a:r>
            <a:br>
              <a:rPr lang="en-CA" sz="3600">
                <a:solidFill>
                  <a:schemeClr val="dk1"/>
                </a:solidFill>
              </a:rPr>
            </a:br>
            <a:endParaRPr sz="3600">
              <a:solidFill>
                <a:schemeClr val="dk1"/>
              </a:solidFill>
            </a:endParaRPr>
          </a:p>
          <a:p>
            <a:pPr indent="-285750" lvl="0" marL="457200" rtl="0" algn="l">
              <a:spcBef>
                <a:spcPts val="0"/>
              </a:spcBef>
              <a:spcAft>
                <a:spcPts val="0"/>
              </a:spcAft>
              <a:buClr>
                <a:schemeClr val="dk1"/>
              </a:buClr>
              <a:buSzPct val="100000"/>
              <a:buChar char="●"/>
            </a:pPr>
            <a:r>
              <a:rPr lang="en-CA" sz="3600">
                <a:solidFill>
                  <a:schemeClr val="dk1"/>
                </a:solidFill>
              </a:rPr>
              <a:t>Sales Activity? (Yes / No)</a:t>
            </a:r>
            <a:br>
              <a:rPr lang="en-CA" sz="3600">
                <a:solidFill>
                  <a:schemeClr val="dk1"/>
                </a:solidFill>
              </a:rPr>
            </a:br>
            <a:endParaRPr sz="3600">
              <a:solidFill>
                <a:schemeClr val="dk1"/>
              </a:solidFill>
            </a:endParaRPr>
          </a:p>
          <a:p>
            <a:pPr indent="-285750" lvl="0" marL="457200" rtl="0" algn="l">
              <a:spcBef>
                <a:spcPts val="0"/>
              </a:spcBef>
              <a:spcAft>
                <a:spcPts val="0"/>
              </a:spcAft>
              <a:buClr>
                <a:schemeClr val="dk1"/>
              </a:buClr>
              <a:buSzPct val="100000"/>
              <a:buChar char="●"/>
            </a:pPr>
            <a:r>
              <a:rPr lang="en-CA" sz="3600">
                <a:solidFill>
                  <a:schemeClr val="dk1"/>
                </a:solidFill>
              </a:rPr>
              <a:t>Type of Sales Activity</a:t>
            </a:r>
            <a:br>
              <a:rPr lang="en-CA" sz="3600">
                <a:solidFill>
                  <a:schemeClr val="dk1"/>
                </a:solidFill>
              </a:rPr>
            </a:br>
            <a:endParaRPr sz="3600">
              <a:solidFill>
                <a:schemeClr val="dk1"/>
              </a:solidFill>
            </a:endParaRPr>
          </a:p>
          <a:p>
            <a:pPr indent="-285750" lvl="0" marL="457200" rtl="0" algn="l">
              <a:spcBef>
                <a:spcPts val="0"/>
              </a:spcBef>
              <a:spcAft>
                <a:spcPts val="0"/>
              </a:spcAft>
              <a:buClr>
                <a:schemeClr val="dk1"/>
              </a:buClr>
              <a:buSzPct val="100000"/>
              <a:buChar char="●"/>
            </a:pPr>
            <a:r>
              <a:rPr lang="en-CA" sz="3600">
                <a:solidFill>
                  <a:schemeClr val="dk1"/>
                </a:solidFill>
              </a:rPr>
              <a:t>HubSpot Opportunity Link</a:t>
            </a:r>
            <a:br>
              <a:rPr lang="en-CA" sz="3600">
                <a:solidFill>
                  <a:schemeClr val="dk1"/>
                </a:solidFill>
              </a:rPr>
            </a:br>
            <a:endParaRPr sz="3600">
              <a:solidFill>
                <a:schemeClr val="dk1"/>
              </a:solidFill>
            </a:endParaRPr>
          </a:p>
          <a:p>
            <a:pPr indent="-285750" lvl="0" marL="457200" rtl="0" algn="l">
              <a:spcBef>
                <a:spcPts val="0"/>
              </a:spcBef>
              <a:spcAft>
                <a:spcPts val="0"/>
              </a:spcAft>
              <a:buClr>
                <a:schemeClr val="dk1"/>
              </a:buClr>
              <a:buSzPct val="100000"/>
              <a:buChar char="●"/>
            </a:pPr>
            <a:r>
              <a:rPr lang="en-CA" sz="3600">
                <a:solidFill>
                  <a:schemeClr val="dk1"/>
                </a:solidFill>
              </a:rPr>
              <a:t>Invoice Amount (before tax) &amp; blank space for Logistics/Duties reduction</a:t>
            </a:r>
            <a:br>
              <a:rPr lang="en-CA" sz="3600">
                <a:solidFill>
                  <a:schemeClr val="dk1"/>
                </a:solidFill>
              </a:rPr>
            </a:br>
            <a:endParaRPr sz="3600">
              <a:solidFill>
                <a:schemeClr val="dk1"/>
              </a:solidFill>
            </a:endParaRPr>
          </a:p>
          <a:p>
            <a:pPr indent="-285750" lvl="0" marL="457200" rtl="0" algn="l">
              <a:spcBef>
                <a:spcPts val="0"/>
              </a:spcBef>
              <a:spcAft>
                <a:spcPts val="0"/>
              </a:spcAft>
              <a:buClr>
                <a:schemeClr val="dk1"/>
              </a:buClr>
              <a:buSzPct val="100000"/>
              <a:buChar char="●"/>
            </a:pPr>
            <a:r>
              <a:rPr lang="en-CA" sz="3600">
                <a:solidFill>
                  <a:schemeClr val="dk1"/>
                </a:solidFill>
              </a:rPr>
              <a:t>Notes (if needed)</a:t>
            </a:r>
            <a:br>
              <a:rPr lang="en-CA" sz="3600">
                <a:solidFill>
                  <a:schemeClr val="dk1"/>
                </a:solidFill>
              </a:rPr>
            </a:br>
            <a:endParaRPr sz="3600">
              <a:solidFill>
                <a:schemeClr val="dk1"/>
              </a:solidFill>
            </a:endParaRPr>
          </a:p>
          <a:p>
            <a:pPr indent="0" lvl="0" marL="381000" marR="381000" rtl="0" algn="l">
              <a:spcBef>
                <a:spcPts val="1200"/>
              </a:spcBef>
              <a:spcAft>
                <a:spcPts val="0"/>
              </a:spcAft>
              <a:buNone/>
            </a:pPr>
            <a:r>
              <a:rPr lang="en-CA" sz="3600">
                <a:solidFill>
                  <a:schemeClr val="dk1"/>
                </a:solidFill>
              </a:rPr>
              <a:t>No spreadsheet entry + no HubSpot link = no commission.</a:t>
            </a:r>
            <a:endParaRPr sz="3600">
              <a:solidFill>
                <a:schemeClr val="dk1"/>
              </a:solidFill>
            </a:endParaRPr>
          </a:p>
          <a:p>
            <a:pPr indent="0" lvl="0" marL="45720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457200" rtl="0" algn="l">
              <a:spcBef>
                <a:spcPts val="1200"/>
              </a:spcBef>
              <a:spcAft>
                <a:spcPts val="0"/>
              </a:spcAft>
              <a:buNone/>
            </a:pPr>
            <a:r>
              <a:t/>
            </a:r>
            <a:endParaRPr b="1" sz="2300">
              <a:solidFill>
                <a:schemeClr val="dk1"/>
              </a:solidFill>
            </a:endParaRPr>
          </a:p>
          <a:p>
            <a:pPr indent="0" lvl="0" marL="381000" marR="38100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5350">
              <a:solidFill>
                <a:schemeClr val="dk1"/>
              </a:solidFill>
            </a:endParaRPr>
          </a:p>
          <a:p>
            <a:pPr indent="0" lvl="0" marL="381000" marR="381000" rtl="0" algn="l">
              <a:spcBef>
                <a:spcPts val="1200"/>
              </a:spcBef>
              <a:spcAft>
                <a:spcPts val="0"/>
              </a:spcAft>
              <a:buNone/>
            </a:pPr>
            <a:r>
              <a:t/>
            </a:r>
            <a:endParaRPr b="1" sz="4350">
              <a:solidFill>
                <a:schemeClr val="dk1"/>
              </a:solidFill>
            </a:endParaRPr>
          </a:p>
          <a:p>
            <a:pPr indent="0" lvl="0" marL="0" rtl="0" algn="l">
              <a:spcBef>
                <a:spcPts val="1200"/>
              </a:spcBef>
              <a:spcAft>
                <a:spcPts val="0"/>
              </a:spcAft>
              <a:buNone/>
            </a:pPr>
            <a:r>
              <a:t/>
            </a:r>
            <a:endParaRPr b="1" sz="3209">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2400"/>
              </a:spcBef>
              <a:spcAft>
                <a:spcPts val="0"/>
              </a:spcAft>
              <a:buClr>
                <a:schemeClr val="dk1"/>
              </a:buClr>
              <a:buSzPts val="275"/>
              <a:buFont typeface="Arial"/>
              <a:buNone/>
            </a:pPr>
            <a:r>
              <a:rPr b="1" lang="en-CA" sz="7200">
                <a:solidFill>
                  <a:schemeClr val="dk1"/>
                </a:solidFill>
              </a:rPr>
              <a:t>HOW FINANCE WILL USE THIS</a:t>
            </a:r>
            <a:endParaRPr b="1" sz="7200">
              <a:solidFill>
                <a:schemeClr val="dk1"/>
              </a:solidFill>
            </a:endParaRPr>
          </a:p>
          <a:p>
            <a:pPr indent="0" lvl="0" marL="0" rtl="0" algn="l">
              <a:spcBef>
                <a:spcPts val="1800"/>
              </a:spcBef>
              <a:spcAft>
                <a:spcPts val="0"/>
              </a:spcAft>
              <a:buClr>
                <a:schemeClr val="dk1"/>
              </a:buClr>
              <a:buSzPct val="30555"/>
              <a:buFont typeface="Arial"/>
              <a:buNone/>
            </a:pPr>
            <a:r>
              <a:rPr b="1" lang="en-CA" sz="3600">
                <a:solidFill>
                  <a:schemeClr val="dk1"/>
                </a:solidFill>
              </a:rPr>
              <a:t>Finance Validation Process</a:t>
            </a:r>
            <a:endParaRPr b="1" sz="3600">
              <a:solidFill>
                <a:schemeClr val="dk1"/>
              </a:solidFill>
            </a:endParaRPr>
          </a:p>
          <a:p>
            <a:pPr indent="0" lvl="0" marL="0" rtl="0" algn="l">
              <a:spcBef>
                <a:spcPts val="1200"/>
              </a:spcBef>
              <a:spcAft>
                <a:spcPts val="0"/>
              </a:spcAft>
              <a:buClr>
                <a:schemeClr val="dk1"/>
              </a:buClr>
              <a:buSzPct val="30555"/>
              <a:buFont typeface="Arial"/>
              <a:buNone/>
            </a:pPr>
            <a:r>
              <a:rPr lang="en-CA" sz="3600">
                <a:solidFill>
                  <a:schemeClr val="dk1"/>
                </a:solidFill>
              </a:rPr>
              <a:t>Finance will:</a:t>
            </a:r>
            <a:endParaRPr sz="3600">
              <a:solidFill>
                <a:schemeClr val="dk1"/>
              </a:solidFill>
            </a:endParaRPr>
          </a:p>
          <a:p>
            <a:pPr indent="-285750" lvl="0" marL="457200" rtl="0" algn="l">
              <a:spcBef>
                <a:spcPts val="1200"/>
              </a:spcBef>
              <a:spcAft>
                <a:spcPts val="0"/>
              </a:spcAft>
              <a:buClr>
                <a:schemeClr val="dk1"/>
              </a:buClr>
              <a:buSzPct val="100000"/>
              <a:buAutoNum type="arabicPeriod"/>
            </a:pPr>
            <a:r>
              <a:rPr lang="en-CA" sz="3600">
                <a:solidFill>
                  <a:schemeClr val="dk1"/>
                </a:solidFill>
              </a:rPr>
              <a:t>Validate HubSpot activity and ownership</a:t>
            </a:r>
            <a:br>
              <a:rPr lang="en-CA" sz="3600">
                <a:solidFill>
                  <a:schemeClr val="dk1"/>
                </a:solidFill>
              </a:rPr>
            </a:br>
            <a:endParaRPr sz="3600">
              <a:solidFill>
                <a:schemeClr val="dk1"/>
              </a:solidFill>
            </a:endParaRPr>
          </a:p>
          <a:p>
            <a:pPr indent="-285750" lvl="0" marL="457200" rtl="0" algn="l">
              <a:spcBef>
                <a:spcPts val="0"/>
              </a:spcBef>
              <a:spcAft>
                <a:spcPts val="0"/>
              </a:spcAft>
              <a:buClr>
                <a:schemeClr val="dk1"/>
              </a:buClr>
              <a:buSzPct val="100000"/>
              <a:buAutoNum type="arabicPeriod"/>
            </a:pPr>
            <a:r>
              <a:rPr lang="en-CA" sz="3600">
                <a:solidFill>
                  <a:schemeClr val="dk1"/>
                </a:solidFill>
              </a:rPr>
              <a:t>Confirm commission eligibility</a:t>
            </a:r>
            <a:br>
              <a:rPr lang="en-CA" sz="3600">
                <a:solidFill>
                  <a:schemeClr val="dk1"/>
                </a:solidFill>
              </a:rPr>
            </a:br>
            <a:endParaRPr sz="3600">
              <a:solidFill>
                <a:schemeClr val="dk1"/>
              </a:solidFill>
            </a:endParaRPr>
          </a:p>
          <a:p>
            <a:pPr indent="-285750" lvl="0" marL="457200" rtl="0" algn="l">
              <a:spcBef>
                <a:spcPts val="0"/>
              </a:spcBef>
              <a:spcAft>
                <a:spcPts val="0"/>
              </a:spcAft>
              <a:buClr>
                <a:schemeClr val="dk1"/>
              </a:buClr>
              <a:buSzPct val="100000"/>
              <a:buAutoNum type="arabicPeriod"/>
            </a:pPr>
            <a:r>
              <a:rPr lang="en-CA" sz="3600">
                <a:solidFill>
                  <a:schemeClr val="dk1"/>
                </a:solidFill>
              </a:rPr>
              <a:t>Remove freight, logistics, duties, and non-commissionable items</a:t>
            </a:r>
            <a:br>
              <a:rPr lang="en-CA" sz="3600">
                <a:solidFill>
                  <a:schemeClr val="dk1"/>
                </a:solidFill>
              </a:rPr>
            </a:br>
            <a:endParaRPr sz="3600">
              <a:solidFill>
                <a:schemeClr val="dk1"/>
              </a:solidFill>
            </a:endParaRPr>
          </a:p>
          <a:p>
            <a:pPr indent="-285750" lvl="0" marL="457200" rtl="0" algn="l">
              <a:spcBef>
                <a:spcPts val="0"/>
              </a:spcBef>
              <a:spcAft>
                <a:spcPts val="0"/>
              </a:spcAft>
              <a:buClr>
                <a:schemeClr val="dk1"/>
              </a:buClr>
              <a:buSzPct val="100000"/>
              <a:buAutoNum type="arabicPeriod"/>
            </a:pPr>
            <a:r>
              <a:rPr lang="en-CA" sz="3600">
                <a:solidFill>
                  <a:schemeClr val="dk1"/>
                </a:solidFill>
              </a:rPr>
              <a:t>Apply correct commission or manager bonus %</a:t>
            </a:r>
            <a:br>
              <a:rPr lang="en-CA" sz="3600">
                <a:solidFill>
                  <a:schemeClr val="dk1"/>
                </a:solidFill>
              </a:rPr>
            </a:br>
            <a:endParaRPr sz="3600">
              <a:solidFill>
                <a:schemeClr val="dk1"/>
              </a:solidFill>
            </a:endParaRPr>
          </a:p>
          <a:p>
            <a:pPr indent="-285750" lvl="0" marL="457200" rtl="0" algn="l">
              <a:spcBef>
                <a:spcPts val="0"/>
              </a:spcBef>
              <a:spcAft>
                <a:spcPts val="0"/>
              </a:spcAft>
              <a:buClr>
                <a:schemeClr val="dk1"/>
              </a:buClr>
              <a:buSzPct val="100000"/>
              <a:buAutoNum type="arabicPeriod"/>
            </a:pPr>
            <a:r>
              <a:rPr lang="en-CA" sz="3600">
                <a:solidFill>
                  <a:schemeClr val="dk1"/>
                </a:solidFill>
              </a:rPr>
              <a:t>Process payment per commission schedule quarterly</a:t>
            </a:r>
            <a:br>
              <a:rPr lang="en-CA" sz="3600">
                <a:solidFill>
                  <a:schemeClr val="dk1"/>
                </a:solidFill>
              </a:rPr>
            </a:br>
            <a:endParaRPr sz="3600">
              <a:solidFill>
                <a:schemeClr val="dk1"/>
              </a:solidFill>
            </a:endParaRPr>
          </a:p>
          <a:p>
            <a:pPr indent="0" lvl="0" marL="0" rtl="0" algn="l">
              <a:spcBef>
                <a:spcPts val="1200"/>
              </a:spcBef>
              <a:spcAft>
                <a:spcPts val="0"/>
              </a:spcAft>
              <a:buClr>
                <a:schemeClr val="dk1"/>
              </a:buClr>
              <a:buSzPct val="30555"/>
              <a:buFont typeface="Arial"/>
              <a:buNone/>
            </a:pPr>
            <a:r>
              <a:rPr lang="en-CA" sz="3600">
                <a:solidFill>
                  <a:schemeClr val="dk1"/>
                </a:solidFill>
              </a:rPr>
              <a:t>This removes delays and disputes.</a:t>
            </a:r>
            <a:endParaRPr sz="3600">
              <a:solidFill>
                <a:schemeClr val="dk1"/>
              </a:solidFill>
            </a:endParaRPr>
          </a:p>
          <a:p>
            <a:pPr indent="0" lvl="0" marL="381000" marR="381000" rtl="0" algn="l">
              <a:spcBef>
                <a:spcPts val="1200"/>
              </a:spcBef>
              <a:spcAft>
                <a:spcPts val="0"/>
              </a:spcAft>
              <a:buNone/>
            </a:pPr>
            <a:r>
              <a:t/>
            </a:r>
            <a:endParaRPr b="1" sz="2300">
              <a:solidFill>
                <a:schemeClr val="dk1"/>
              </a:solidFill>
            </a:endParaRPr>
          </a:p>
          <a:p>
            <a:pPr indent="0" lvl="0" marL="45720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457200" rtl="0" algn="l">
              <a:spcBef>
                <a:spcPts val="1200"/>
              </a:spcBef>
              <a:spcAft>
                <a:spcPts val="0"/>
              </a:spcAft>
              <a:buNone/>
            </a:pPr>
            <a:r>
              <a:t/>
            </a:r>
            <a:endParaRPr b="1" sz="2300">
              <a:solidFill>
                <a:schemeClr val="dk1"/>
              </a:solidFill>
            </a:endParaRPr>
          </a:p>
          <a:p>
            <a:pPr indent="0" lvl="0" marL="381000" marR="38100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5350">
              <a:solidFill>
                <a:schemeClr val="dk1"/>
              </a:solidFill>
            </a:endParaRPr>
          </a:p>
          <a:p>
            <a:pPr indent="0" lvl="0" marL="381000" marR="381000" rtl="0" algn="l">
              <a:spcBef>
                <a:spcPts val="1200"/>
              </a:spcBef>
              <a:spcAft>
                <a:spcPts val="0"/>
              </a:spcAft>
              <a:buNone/>
            </a:pPr>
            <a:r>
              <a:t/>
            </a:r>
            <a:endParaRPr b="1" sz="4350">
              <a:solidFill>
                <a:schemeClr val="dk1"/>
              </a:solidFill>
            </a:endParaRPr>
          </a:p>
          <a:p>
            <a:pPr indent="0" lvl="0" marL="0" rtl="0" algn="l">
              <a:spcBef>
                <a:spcPts val="1200"/>
              </a:spcBef>
              <a:spcAft>
                <a:spcPts val="0"/>
              </a:spcAft>
              <a:buNone/>
            </a:pPr>
            <a:r>
              <a:t/>
            </a:r>
            <a:endParaRPr b="1" sz="3209">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25000" lnSpcReduction="20000"/>
          </a:bodyPr>
          <a:lstStyle/>
          <a:p>
            <a:pPr indent="0" lvl="0" marL="0" rtl="0" algn="l">
              <a:spcBef>
                <a:spcPts val="2400"/>
              </a:spcBef>
              <a:spcAft>
                <a:spcPts val="0"/>
              </a:spcAft>
              <a:buNone/>
            </a:pPr>
            <a:r>
              <a:rPr b="1" lang="en-CA" sz="7200">
                <a:solidFill>
                  <a:schemeClr val="dk1"/>
                </a:solidFill>
              </a:rPr>
              <a:t>FINAL MESSAGE</a:t>
            </a:r>
            <a:endParaRPr b="1" sz="7200">
              <a:solidFill>
                <a:schemeClr val="dk1"/>
              </a:solidFill>
            </a:endParaRPr>
          </a:p>
          <a:p>
            <a:pPr indent="0" lvl="0" marL="0" rtl="0" algn="l">
              <a:spcBef>
                <a:spcPts val="1800"/>
              </a:spcBef>
              <a:spcAft>
                <a:spcPts val="0"/>
              </a:spcAft>
              <a:buNone/>
            </a:pPr>
            <a:r>
              <a:rPr b="1" lang="en-CA" sz="3600">
                <a:solidFill>
                  <a:schemeClr val="dk1"/>
                </a:solidFill>
              </a:rPr>
              <a:t>Final Takeaways</a:t>
            </a:r>
            <a:endParaRPr b="1" sz="3600">
              <a:solidFill>
                <a:schemeClr val="dk1"/>
              </a:solidFill>
            </a:endParaRPr>
          </a:p>
          <a:p>
            <a:pPr indent="-285750" lvl="0" marL="457200" rtl="0" algn="l">
              <a:spcBef>
                <a:spcPts val="1200"/>
              </a:spcBef>
              <a:spcAft>
                <a:spcPts val="0"/>
              </a:spcAft>
              <a:buClr>
                <a:schemeClr val="dk1"/>
              </a:buClr>
              <a:buSzPct val="100000"/>
              <a:buChar char="●"/>
            </a:pPr>
            <a:r>
              <a:rPr lang="en-CA" sz="3600">
                <a:solidFill>
                  <a:schemeClr val="dk1"/>
                </a:solidFill>
              </a:rPr>
              <a:t>Commissions reward </a:t>
            </a:r>
            <a:r>
              <a:rPr b="1" lang="en-CA" sz="3600">
                <a:solidFill>
                  <a:schemeClr val="dk1"/>
                </a:solidFill>
              </a:rPr>
              <a:t>selling</a:t>
            </a:r>
            <a:r>
              <a:rPr lang="en-CA" sz="3600">
                <a:solidFill>
                  <a:schemeClr val="dk1"/>
                </a:solidFill>
              </a:rPr>
              <a:t>, not admin work</a:t>
            </a:r>
            <a:br>
              <a:rPr lang="en-CA" sz="3600">
                <a:solidFill>
                  <a:schemeClr val="dk1"/>
                </a:solidFill>
              </a:rPr>
            </a:br>
            <a:endParaRPr sz="3600">
              <a:solidFill>
                <a:schemeClr val="dk1"/>
              </a:solidFill>
            </a:endParaRPr>
          </a:p>
          <a:p>
            <a:pPr indent="-285750" lvl="0" marL="457200" rtl="0" algn="l">
              <a:spcBef>
                <a:spcPts val="0"/>
              </a:spcBef>
              <a:spcAft>
                <a:spcPts val="0"/>
              </a:spcAft>
              <a:buClr>
                <a:schemeClr val="dk1"/>
              </a:buClr>
              <a:buSzPct val="100000"/>
              <a:buChar char="●"/>
            </a:pPr>
            <a:r>
              <a:rPr lang="en-CA" sz="3600">
                <a:solidFill>
                  <a:schemeClr val="dk1"/>
                </a:solidFill>
              </a:rPr>
              <a:t>HubSpot documentation is mandatory</a:t>
            </a:r>
            <a:br>
              <a:rPr lang="en-CA" sz="3600">
                <a:solidFill>
                  <a:schemeClr val="dk1"/>
                </a:solidFill>
              </a:rPr>
            </a:br>
            <a:endParaRPr sz="3600">
              <a:solidFill>
                <a:schemeClr val="dk1"/>
              </a:solidFill>
            </a:endParaRPr>
          </a:p>
          <a:p>
            <a:pPr indent="-285750" lvl="0" marL="457200" rtl="0" algn="l">
              <a:spcBef>
                <a:spcPts val="0"/>
              </a:spcBef>
              <a:spcAft>
                <a:spcPts val="0"/>
              </a:spcAft>
              <a:buClr>
                <a:schemeClr val="dk1"/>
              </a:buClr>
              <a:buSzPct val="100000"/>
              <a:buChar char="●"/>
            </a:pPr>
            <a:r>
              <a:rPr lang="en-CA" sz="3600">
                <a:solidFill>
                  <a:schemeClr val="dk1"/>
                </a:solidFill>
              </a:rPr>
              <a:t>Managers are paid to </a:t>
            </a:r>
            <a:r>
              <a:rPr b="1" lang="en-CA" sz="3600">
                <a:solidFill>
                  <a:schemeClr val="dk1"/>
                </a:solidFill>
              </a:rPr>
              <a:t>build teams</a:t>
            </a:r>
            <a:r>
              <a:rPr lang="en-CA" sz="3600">
                <a:solidFill>
                  <a:schemeClr val="dk1"/>
                </a:solidFill>
              </a:rPr>
              <a:t> not compete with them (If there are specific situations, like Discovery Silver, where the manager is asked to lead the project, these are acceptable.)</a:t>
            </a:r>
            <a:br>
              <a:rPr lang="en-CA" sz="3600">
                <a:solidFill>
                  <a:schemeClr val="dk1"/>
                </a:solidFill>
              </a:rPr>
            </a:br>
            <a:endParaRPr sz="3600">
              <a:solidFill>
                <a:schemeClr val="dk1"/>
              </a:solidFill>
            </a:endParaRPr>
          </a:p>
          <a:p>
            <a:pPr indent="-285750" lvl="0" marL="457200" rtl="0" algn="l">
              <a:spcBef>
                <a:spcPts val="0"/>
              </a:spcBef>
              <a:spcAft>
                <a:spcPts val="0"/>
              </a:spcAft>
              <a:buClr>
                <a:schemeClr val="dk1"/>
              </a:buClr>
              <a:buSzPct val="100000"/>
              <a:buChar char="●"/>
            </a:pPr>
            <a:r>
              <a:rPr lang="en-CA" sz="3600">
                <a:solidFill>
                  <a:schemeClr val="dk1"/>
                </a:solidFill>
              </a:rPr>
              <a:t>Clear tracking = faster, fairer payouts</a:t>
            </a:r>
            <a:endParaRPr sz="36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381000" marR="381000" rtl="0" algn="l">
              <a:spcBef>
                <a:spcPts val="1200"/>
              </a:spcBef>
              <a:spcAft>
                <a:spcPts val="0"/>
              </a:spcAft>
              <a:buNone/>
            </a:pPr>
            <a:r>
              <a:t/>
            </a:r>
            <a:endParaRPr b="1" sz="2300">
              <a:solidFill>
                <a:schemeClr val="dk1"/>
              </a:solidFill>
            </a:endParaRPr>
          </a:p>
          <a:p>
            <a:pPr indent="0" lvl="0" marL="45720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457200" rtl="0" algn="l">
              <a:spcBef>
                <a:spcPts val="1200"/>
              </a:spcBef>
              <a:spcAft>
                <a:spcPts val="0"/>
              </a:spcAft>
              <a:buNone/>
            </a:pPr>
            <a:r>
              <a:t/>
            </a:r>
            <a:endParaRPr b="1" sz="2300">
              <a:solidFill>
                <a:schemeClr val="dk1"/>
              </a:solidFill>
            </a:endParaRPr>
          </a:p>
          <a:p>
            <a:pPr indent="0" lvl="0" marL="381000" marR="38100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5350">
              <a:solidFill>
                <a:schemeClr val="dk1"/>
              </a:solidFill>
            </a:endParaRPr>
          </a:p>
          <a:p>
            <a:pPr indent="0" lvl="0" marL="381000" marR="381000" rtl="0" algn="l">
              <a:spcBef>
                <a:spcPts val="1200"/>
              </a:spcBef>
              <a:spcAft>
                <a:spcPts val="0"/>
              </a:spcAft>
              <a:buNone/>
            </a:pPr>
            <a:r>
              <a:t/>
            </a:r>
            <a:endParaRPr b="1" sz="4350">
              <a:solidFill>
                <a:schemeClr val="dk1"/>
              </a:solidFill>
            </a:endParaRPr>
          </a:p>
          <a:p>
            <a:pPr indent="0" lvl="0" marL="0" rtl="0" algn="l">
              <a:spcBef>
                <a:spcPts val="1200"/>
              </a:spcBef>
              <a:spcAft>
                <a:spcPts val="0"/>
              </a:spcAft>
              <a:buNone/>
            </a:pPr>
            <a:r>
              <a:t/>
            </a:r>
            <a:endParaRPr b="1" sz="3209">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0"/>
              </a:spcAft>
              <a:buNone/>
            </a:pPr>
            <a:r>
              <a:t/>
            </a:r>
            <a:endParaRPr b="1" sz="2300">
              <a:solidFill>
                <a:schemeClr val="dk1"/>
              </a:solidFill>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